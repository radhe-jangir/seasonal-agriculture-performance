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5033" autoAdjust="0"/>
  </p:normalViewPr>
  <p:slideViewPr>
    <p:cSldViewPr snapToGrid="0">
      <p:cViewPr>
        <p:scale>
          <a:sx n="100" d="100"/>
          <a:sy n="100" d="100"/>
        </p:scale>
        <p:origin x="816" y="4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8" name="TextBox 37"/>
          <p:cNvSpPr txBox="1"/>
          <p:nvPr/>
        </p:nvSpPr>
        <p:spPr>
          <a:xfrm>
            <a:off x="3037507" y="877264"/>
            <a:ext cx="6531010" cy="1757077"/>
          </a:xfrm>
          <a:prstGeom prst="roundRect">
            <a:avLst/>
          </a:prstGeom>
          <a:solidFill>
            <a:schemeClr val="accent1">
              <a:lumMod val="20000"/>
              <a:lumOff val="80000"/>
              <a:alpha val="5000"/>
            </a:schemeClr>
          </a:solidFill>
          <a:ln>
            <a:solidFill>
              <a:schemeClr val="accent1">
                <a:lumMod val="60000"/>
                <a:lumOff val="40000"/>
              </a:schemeClr>
            </a:solidFill>
          </a:ln>
          <a:effectLst>
            <a:glow rad="139700">
              <a:schemeClr val="accent1">
                <a:satMod val="175000"/>
                <a:alpha val="40000"/>
              </a:schemeClr>
            </a:glow>
            <a:softEdge rad="0"/>
          </a:effectLst>
        </p:spPr>
        <p:txBody>
          <a:bodyPr wrap="square" lIns="54864" tIns="54864" rIns="54864" bIns="54864" anchor="t">
            <a:spAutoFit/>
          </a:bodyPr>
          <a:lstStyle/>
          <a:p>
            <a:pPr algn="ctr"/>
            <a:r>
              <a:rPr sz="4800" b="1" i="0" dirty="0">
                <a:solidFill>
                  <a:srgbClr val="143746"/>
                </a:solidFill>
                <a:latin typeface="Aptos"/>
              </a:rPr>
              <a:t>Seasonal Agriculture
Performance Analysis</a:t>
            </a:r>
          </a:p>
        </p:txBody>
      </p:sp>
      <p:sp>
        <p:nvSpPr>
          <p:cNvPr id="39" name="TextBox 38"/>
          <p:cNvSpPr txBox="1"/>
          <p:nvPr/>
        </p:nvSpPr>
        <p:spPr>
          <a:xfrm>
            <a:off x="3792222" y="3164622"/>
            <a:ext cx="5021580" cy="387798"/>
          </a:xfrm>
          <a:prstGeom prst="rect">
            <a:avLst/>
          </a:prstGeom>
          <a:noFill/>
        </p:spPr>
        <p:txBody>
          <a:bodyPr wrap="square" lIns="54864" tIns="54864" rIns="54864" bIns="54864" anchor="t">
            <a:spAutoFit/>
          </a:bodyPr>
          <a:lstStyle/>
          <a:p>
            <a:pPr algn="l"/>
            <a:r>
              <a:rPr b="0" i="0" dirty="0">
                <a:solidFill>
                  <a:srgbClr val="375A64"/>
                </a:solidFill>
                <a:latin typeface="Aptos"/>
              </a:rPr>
              <a:t>Major Project — VOIS AICTE Batch 1 (2026–2027)</a:t>
            </a:r>
          </a:p>
        </p:txBody>
      </p:sp>
      <p:sp>
        <p:nvSpPr>
          <p:cNvPr id="40" name="TextBox 39"/>
          <p:cNvSpPr txBox="1"/>
          <p:nvPr/>
        </p:nvSpPr>
        <p:spPr>
          <a:xfrm>
            <a:off x="4336854" y="3552420"/>
            <a:ext cx="4168969" cy="603242"/>
          </a:xfrm>
          <a:prstGeom prst="rect">
            <a:avLst/>
          </a:prstGeom>
          <a:noFill/>
        </p:spPr>
        <p:txBody>
          <a:bodyPr wrap="square" lIns="54864" tIns="54864" rIns="54864" bIns="54864" anchor="t">
            <a:spAutoFit/>
          </a:bodyPr>
          <a:lstStyle/>
          <a:p>
            <a:pPr algn="l"/>
            <a:r>
              <a:rPr sz="3200" b="1" i="0" dirty="0">
                <a:solidFill>
                  <a:srgbClr val="19282D"/>
                </a:solidFill>
                <a:latin typeface="Aptos"/>
              </a:rPr>
              <a:t>Radheshyam Suthar</a:t>
            </a:r>
          </a:p>
        </p:txBody>
      </p:sp>
      <p:sp>
        <p:nvSpPr>
          <p:cNvPr id="41" name="TextBox 40"/>
          <p:cNvSpPr txBox="1"/>
          <p:nvPr/>
        </p:nvSpPr>
        <p:spPr>
          <a:xfrm>
            <a:off x="3748370" y="4155662"/>
            <a:ext cx="5689160" cy="480131"/>
          </a:xfrm>
          <a:prstGeom prst="rect">
            <a:avLst/>
          </a:prstGeom>
          <a:noFill/>
        </p:spPr>
        <p:txBody>
          <a:bodyPr wrap="square" lIns="54864" tIns="54864" rIns="54864" bIns="54864" anchor="t">
            <a:spAutoFit/>
          </a:bodyPr>
          <a:lstStyle/>
          <a:p>
            <a:pPr algn="l"/>
            <a:r>
              <a:rPr sz="2400" b="0" i="0" dirty="0">
                <a:solidFill>
                  <a:srgbClr val="374146"/>
                </a:solidFill>
                <a:latin typeface="Aptos"/>
              </a:rPr>
              <a:t>Indira Gandhi National Tribal University</a:t>
            </a:r>
          </a:p>
        </p:txBody>
      </p:sp>
      <p:sp>
        <p:nvSpPr>
          <p:cNvPr id="42" name="TextBox 41"/>
          <p:cNvSpPr txBox="1"/>
          <p:nvPr/>
        </p:nvSpPr>
        <p:spPr>
          <a:xfrm>
            <a:off x="3748370" y="4651939"/>
            <a:ext cx="5109284" cy="418576"/>
          </a:xfrm>
          <a:prstGeom prst="rect">
            <a:avLst/>
          </a:prstGeom>
          <a:noFill/>
        </p:spPr>
        <p:txBody>
          <a:bodyPr wrap="none" lIns="54864" tIns="54864" rIns="54864" bIns="54864" anchor="t">
            <a:spAutoFit/>
          </a:bodyPr>
          <a:lstStyle/>
          <a:p>
            <a:pPr algn="l"/>
            <a:r>
              <a:rPr b="1" i="0" dirty="0">
                <a:solidFill>
                  <a:srgbClr val="2D4146"/>
                </a:solidFill>
                <a:latin typeface="Aptos"/>
              </a:rPr>
              <a:t>AICTE STU ID: </a:t>
            </a:r>
            <a:r>
              <a:rPr lang="en-US" sz="2000" dirty="0"/>
              <a:t>STU69c4bfbbd70d51774501819</a:t>
            </a:r>
            <a:endParaRPr b="1" i="0" dirty="0">
              <a:solidFill>
                <a:srgbClr val="2D4146"/>
              </a:solidFill>
              <a:latin typeface="Aptos"/>
            </a:endParaRPr>
          </a:p>
        </p:txBody>
      </p:sp>
      <p:sp>
        <p:nvSpPr>
          <p:cNvPr id="43" name="TextBox 42"/>
          <p:cNvSpPr txBox="1"/>
          <p:nvPr/>
        </p:nvSpPr>
        <p:spPr>
          <a:xfrm>
            <a:off x="4529260" y="5149596"/>
            <a:ext cx="3784159" cy="387798"/>
          </a:xfrm>
          <a:prstGeom prst="rect">
            <a:avLst/>
          </a:prstGeom>
          <a:noFill/>
        </p:spPr>
        <p:txBody>
          <a:bodyPr wrap="square" lIns="54864" tIns="54864" rIns="54864" bIns="54864" anchor="t">
            <a:spAutoFit/>
          </a:bodyPr>
          <a:lstStyle/>
          <a:p>
            <a:r>
              <a:rPr lang="en-US" b="1" dirty="0">
                <a:solidFill>
                  <a:srgbClr val="1E5F6E"/>
                </a:solidFill>
                <a:latin typeface="Aptos"/>
              </a:rPr>
              <a:t>Domain: Agriculture Data Analytics</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749808" y="530352"/>
            <a:ext cx="6949440" cy="502920"/>
          </a:xfrm>
          <a:prstGeom prst="rect">
            <a:avLst/>
          </a:prstGeom>
          <a:noFill/>
        </p:spPr>
        <p:txBody>
          <a:bodyPr wrap="none" lIns="54864" tIns="54864" rIns="54864" bIns="54864" anchor="t">
            <a:spAutoFit/>
          </a:bodyPr>
          <a:lstStyle/>
          <a:p>
            <a:pPr algn="l"/>
            <a:r>
              <a:rPr sz="2600" b="1" i="0">
                <a:solidFill>
                  <a:srgbClr val="193746"/>
                </a:solidFill>
                <a:latin typeface="Aptos"/>
              </a:rPr>
              <a:t>PROBLEM STATEMENT</a:t>
            </a:r>
          </a:p>
        </p:txBody>
      </p:sp>
      <p:sp>
        <p:nvSpPr>
          <p:cNvPr id="18" name="TextBox 17"/>
          <p:cNvSpPr txBox="1"/>
          <p:nvPr/>
        </p:nvSpPr>
        <p:spPr>
          <a:xfrm>
            <a:off x="749807" y="1127748"/>
            <a:ext cx="6232883" cy="3065455"/>
          </a:xfrm>
          <a:prstGeom prst="rect">
            <a:avLst/>
          </a:prstGeom>
          <a:noFill/>
        </p:spPr>
        <p:txBody>
          <a:bodyPr wrap="square" lIns="54864" tIns="54864" rIns="54864" bIns="54864" anchor="t">
            <a:spAutoFit/>
          </a:bodyPr>
          <a:lstStyle/>
          <a:p>
            <a:pPr algn="l"/>
            <a:r>
              <a:rPr lang="en-US" sz="2400" b="0" i="0" dirty="0">
                <a:solidFill>
                  <a:srgbClr val="2D3237"/>
                </a:solidFill>
                <a:latin typeface="Aptos"/>
              </a:rPr>
              <a:t>Agricultural performance is influenced by seasonal environmental conditions, farming practices, resource availability and market conditions. Raw agricultural data does not clearly explain how performance changes across seasons or what patterns occur under different seasonal conditions.</a:t>
            </a:r>
          </a:p>
          <a:p>
            <a:pPr algn="l"/>
            <a:endParaRPr sz="2400" b="0" i="0" dirty="0">
              <a:solidFill>
                <a:srgbClr val="2D3237"/>
              </a:solidFill>
              <a:latin typeface="Aptos"/>
            </a:endParaRPr>
          </a:p>
        </p:txBody>
      </p:sp>
      <p:sp>
        <p:nvSpPr>
          <p:cNvPr id="19" name="Rounded Rectangle 18"/>
          <p:cNvSpPr/>
          <p:nvPr/>
        </p:nvSpPr>
        <p:spPr>
          <a:xfrm>
            <a:off x="1005840" y="3886200"/>
            <a:ext cx="1965960" cy="114300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3977639"/>
            <a:ext cx="1746504" cy="256032"/>
          </a:xfrm>
          <a:prstGeom prst="rect">
            <a:avLst/>
          </a:prstGeom>
          <a:noFill/>
        </p:spPr>
        <p:txBody>
          <a:bodyPr wrap="none" lIns="54864" tIns="54864" rIns="54864" bIns="54864" anchor="t">
            <a:spAutoFit/>
          </a:bodyPr>
          <a:lstStyle/>
          <a:p>
            <a:pPr algn="l"/>
            <a:r>
              <a:rPr sz="1000" b="1" i="0">
                <a:solidFill>
                  <a:srgbClr val="465A64"/>
                </a:solidFill>
                <a:latin typeface="Aptos"/>
              </a:rPr>
              <a:t>Records</a:t>
            </a:r>
          </a:p>
        </p:txBody>
      </p:sp>
      <p:sp>
        <p:nvSpPr>
          <p:cNvPr id="21" name="TextBox 20"/>
          <p:cNvSpPr txBox="1"/>
          <p:nvPr/>
        </p:nvSpPr>
        <p:spPr>
          <a:xfrm>
            <a:off x="1115568" y="4242816"/>
            <a:ext cx="1746504" cy="438912"/>
          </a:xfrm>
          <a:prstGeom prst="rect">
            <a:avLst/>
          </a:prstGeom>
          <a:noFill/>
        </p:spPr>
        <p:txBody>
          <a:bodyPr wrap="none" lIns="54864" tIns="54864" rIns="54864" bIns="54864" anchor="t">
            <a:spAutoFit/>
          </a:bodyPr>
          <a:lstStyle/>
          <a:p>
            <a:pPr algn="l"/>
            <a:r>
              <a:rPr sz="2100" b="1" i="0">
                <a:solidFill>
                  <a:srgbClr val="146478"/>
                </a:solidFill>
                <a:latin typeface="Aptos"/>
              </a:rPr>
              <a:t>4,000</a:t>
            </a:r>
          </a:p>
        </p:txBody>
      </p:sp>
      <p:sp>
        <p:nvSpPr>
          <p:cNvPr id="22" name="TextBox 21"/>
          <p:cNvSpPr txBox="1"/>
          <p:nvPr/>
        </p:nvSpPr>
        <p:spPr>
          <a:xfrm>
            <a:off x="1115568" y="4700016"/>
            <a:ext cx="1746504" cy="228600"/>
          </a:xfrm>
          <a:prstGeom prst="rect">
            <a:avLst/>
          </a:prstGeom>
          <a:noFill/>
        </p:spPr>
        <p:txBody>
          <a:bodyPr wrap="none" lIns="54864" tIns="54864" rIns="54864" bIns="54864" anchor="t">
            <a:spAutoFit/>
          </a:bodyPr>
          <a:lstStyle/>
          <a:p>
            <a:pPr algn="l"/>
            <a:r>
              <a:rPr sz="850" b="0" i="0">
                <a:solidFill>
                  <a:srgbClr val="5F696E"/>
                </a:solidFill>
                <a:latin typeface="Aptos"/>
              </a:rPr>
              <a:t>observations</a:t>
            </a:r>
          </a:p>
        </p:txBody>
      </p:sp>
      <p:sp>
        <p:nvSpPr>
          <p:cNvPr id="23" name="Rounded Rectangle 22"/>
          <p:cNvSpPr/>
          <p:nvPr/>
        </p:nvSpPr>
        <p:spPr>
          <a:xfrm>
            <a:off x="3246120" y="3886200"/>
            <a:ext cx="1965960" cy="114300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55848" y="3977639"/>
            <a:ext cx="1746504" cy="256032"/>
          </a:xfrm>
          <a:prstGeom prst="rect">
            <a:avLst/>
          </a:prstGeom>
          <a:noFill/>
        </p:spPr>
        <p:txBody>
          <a:bodyPr wrap="none" lIns="54864" tIns="54864" rIns="54864" bIns="54864" anchor="t">
            <a:spAutoFit/>
          </a:bodyPr>
          <a:lstStyle/>
          <a:p>
            <a:pPr algn="l"/>
            <a:r>
              <a:rPr sz="1000" b="1" i="0">
                <a:solidFill>
                  <a:srgbClr val="465A64"/>
                </a:solidFill>
                <a:latin typeface="Aptos"/>
              </a:rPr>
              <a:t>Variables</a:t>
            </a:r>
          </a:p>
        </p:txBody>
      </p:sp>
      <p:sp>
        <p:nvSpPr>
          <p:cNvPr id="25" name="TextBox 24"/>
          <p:cNvSpPr txBox="1"/>
          <p:nvPr/>
        </p:nvSpPr>
        <p:spPr>
          <a:xfrm>
            <a:off x="3355848" y="4242816"/>
            <a:ext cx="1746504" cy="438912"/>
          </a:xfrm>
          <a:prstGeom prst="rect">
            <a:avLst/>
          </a:prstGeom>
          <a:noFill/>
        </p:spPr>
        <p:txBody>
          <a:bodyPr wrap="none" lIns="54864" tIns="54864" rIns="54864" bIns="54864" anchor="t">
            <a:spAutoFit/>
          </a:bodyPr>
          <a:lstStyle/>
          <a:p>
            <a:pPr algn="l"/>
            <a:r>
              <a:rPr sz="2100" b="1" i="0">
                <a:solidFill>
                  <a:srgbClr val="146478"/>
                </a:solidFill>
                <a:latin typeface="Aptos"/>
              </a:rPr>
              <a:t>28</a:t>
            </a:r>
          </a:p>
        </p:txBody>
      </p:sp>
      <p:sp>
        <p:nvSpPr>
          <p:cNvPr id="26" name="TextBox 25"/>
          <p:cNvSpPr txBox="1"/>
          <p:nvPr/>
        </p:nvSpPr>
        <p:spPr>
          <a:xfrm>
            <a:off x="3355848" y="4700016"/>
            <a:ext cx="1746504" cy="228600"/>
          </a:xfrm>
          <a:prstGeom prst="rect">
            <a:avLst/>
          </a:prstGeom>
          <a:noFill/>
        </p:spPr>
        <p:txBody>
          <a:bodyPr wrap="none" lIns="54864" tIns="54864" rIns="54864" bIns="54864" anchor="t">
            <a:spAutoFit/>
          </a:bodyPr>
          <a:lstStyle/>
          <a:p>
            <a:pPr algn="l"/>
            <a:r>
              <a:rPr sz="850" b="0" i="0">
                <a:solidFill>
                  <a:srgbClr val="5F696E"/>
                </a:solidFill>
                <a:latin typeface="Aptos"/>
              </a:rPr>
              <a:t>dataset attributes</a:t>
            </a:r>
          </a:p>
        </p:txBody>
      </p:sp>
      <p:sp>
        <p:nvSpPr>
          <p:cNvPr id="27" name="Rounded Rectangle 26"/>
          <p:cNvSpPr/>
          <p:nvPr/>
        </p:nvSpPr>
        <p:spPr>
          <a:xfrm>
            <a:off x="5486400" y="3886200"/>
            <a:ext cx="1965960" cy="114300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96128" y="3977639"/>
            <a:ext cx="1746504" cy="256032"/>
          </a:xfrm>
          <a:prstGeom prst="rect">
            <a:avLst/>
          </a:prstGeom>
          <a:noFill/>
        </p:spPr>
        <p:txBody>
          <a:bodyPr wrap="none" lIns="54864" tIns="54864" rIns="54864" bIns="54864" anchor="t">
            <a:spAutoFit/>
          </a:bodyPr>
          <a:lstStyle/>
          <a:p>
            <a:pPr algn="l"/>
            <a:r>
              <a:rPr sz="1000" b="1" i="0">
                <a:solidFill>
                  <a:srgbClr val="465A64"/>
                </a:solidFill>
                <a:latin typeface="Aptos"/>
              </a:rPr>
              <a:t>Seasons</a:t>
            </a:r>
          </a:p>
        </p:txBody>
      </p:sp>
      <p:sp>
        <p:nvSpPr>
          <p:cNvPr id="29" name="TextBox 28"/>
          <p:cNvSpPr txBox="1"/>
          <p:nvPr/>
        </p:nvSpPr>
        <p:spPr>
          <a:xfrm>
            <a:off x="5596128" y="4242816"/>
            <a:ext cx="1746504" cy="438912"/>
          </a:xfrm>
          <a:prstGeom prst="rect">
            <a:avLst/>
          </a:prstGeom>
          <a:noFill/>
        </p:spPr>
        <p:txBody>
          <a:bodyPr wrap="none" lIns="54864" tIns="54864" rIns="54864" bIns="54864" anchor="t">
            <a:spAutoFit/>
          </a:bodyPr>
          <a:lstStyle/>
          <a:p>
            <a:pPr algn="l"/>
            <a:r>
              <a:rPr sz="2100" b="1" i="0">
                <a:solidFill>
                  <a:srgbClr val="146478"/>
                </a:solidFill>
                <a:latin typeface="Aptos"/>
              </a:rPr>
              <a:t>3</a:t>
            </a:r>
          </a:p>
        </p:txBody>
      </p:sp>
      <p:sp>
        <p:nvSpPr>
          <p:cNvPr id="30" name="TextBox 29"/>
          <p:cNvSpPr txBox="1"/>
          <p:nvPr/>
        </p:nvSpPr>
        <p:spPr>
          <a:xfrm>
            <a:off x="5596128" y="4700016"/>
            <a:ext cx="1746504" cy="228600"/>
          </a:xfrm>
          <a:prstGeom prst="rect">
            <a:avLst/>
          </a:prstGeom>
          <a:noFill/>
        </p:spPr>
        <p:txBody>
          <a:bodyPr wrap="none" lIns="54864" tIns="54864" rIns="54864" bIns="54864" anchor="t">
            <a:spAutoFit/>
          </a:bodyPr>
          <a:lstStyle/>
          <a:p>
            <a:pPr algn="l"/>
            <a:r>
              <a:rPr sz="850" b="0" i="0">
                <a:solidFill>
                  <a:srgbClr val="5F696E"/>
                </a:solidFill>
                <a:latin typeface="Aptos"/>
              </a:rPr>
              <a:t>Kharif • Rabi • Zaid</a:t>
            </a:r>
          </a:p>
        </p:txBody>
      </p:sp>
      <p:sp>
        <p:nvSpPr>
          <p:cNvPr id="31" name="TextBox 30"/>
          <p:cNvSpPr txBox="1"/>
          <p:nvPr/>
        </p:nvSpPr>
        <p:spPr>
          <a:xfrm>
            <a:off x="1005840" y="5321808"/>
            <a:ext cx="6629400" cy="530352"/>
          </a:xfrm>
          <a:prstGeom prst="rect">
            <a:avLst/>
          </a:prstGeom>
          <a:noFill/>
        </p:spPr>
        <p:txBody>
          <a:bodyPr wrap="none" lIns="54864" tIns="54864" rIns="54864" bIns="54864" anchor="t">
            <a:spAutoFit/>
          </a:bodyPr>
          <a:lstStyle/>
          <a:p>
            <a:pPr algn="l"/>
            <a:r>
              <a:rPr sz="1400" b="1" i="0">
                <a:solidFill>
                  <a:srgbClr val="23555F"/>
                </a:solidFill>
                <a:latin typeface="Aptos"/>
              </a:rPr>
              <a:t>Goal: identify meaningful patterns, relationships, variations and data-driven insights.</a:t>
            </a:r>
          </a:p>
        </p:txBody>
      </p:sp>
      <p:sp>
        <p:nvSpPr>
          <p:cNvPr id="32" name="TextBox 31"/>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2</a:t>
            </a:r>
          </a:p>
        </p:txBody>
      </p:sp>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PROJECT DESCRIPTION</a:t>
            </a:r>
          </a:p>
        </p:txBody>
      </p:sp>
      <p:sp>
        <p:nvSpPr>
          <p:cNvPr id="11" name="TextBox 10"/>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sp>
        <p:nvSpPr>
          <p:cNvPr id="12" name="TextBox 11"/>
          <p:cNvSpPr txBox="1"/>
          <p:nvPr/>
        </p:nvSpPr>
        <p:spPr>
          <a:xfrm>
            <a:off x="675956" y="1261812"/>
            <a:ext cx="9100504" cy="2326791"/>
          </a:xfrm>
          <a:prstGeom prst="rect">
            <a:avLst/>
          </a:prstGeom>
          <a:noFill/>
        </p:spPr>
        <p:txBody>
          <a:bodyPr wrap="square" lIns="54864" tIns="54864" rIns="54864" bIns="54864" anchor="t">
            <a:spAutoFit/>
          </a:bodyPr>
          <a:lstStyle/>
          <a:p>
            <a:r>
              <a:rPr lang="en-US" sz="2400" dirty="0">
                <a:solidFill>
                  <a:srgbClr val="2D3237"/>
                </a:solidFill>
                <a:latin typeface="Aptos"/>
              </a:rPr>
              <a:t>The project applies a complete data-analytics workflow to a 4,000-row agricultural dataset. The analysis covers dataset inspection, data-quality treatment, exploratory analysis, seasonal and crop-wise comparisons, correlation analysis, statistical significance testing, and multiple linear regression.</a:t>
            </a:r>
          </a:p>
          <a:p>
            <a:pPr algn="l"/>
            <a:endParaRPr sz="2400" b="0" i="0" dirty="0">
              <a:solidFill>
                <a:srgbClr val="2D3237"/>
              </a:solidFill>
              <a:latin typeface="Aptos"/>
            </a:endParaRPr>
          </a:p>
        </p:txBody>
      </p:sp>
      <p:sp>
        <p:nvSpPr>
          <p:cNvPr id="13" name="TextBox 12"/>
          <p:cNvSpPr txBox="1"/>
          <p:nvPr/>
        </p:nvSpPr>
        <p:spPr>
          <a:xfrm>
            <a:off x="675957" y="3502675"/>
            <a:ext cx="9748203" cy="1789208"/>
          </a:xfrm>
          <a:prstGeom prst="rect">
            <a:avLst/>
          </a:prstGeom>
          <a:noFill/>
        </p:spPr>
        <p:txBody>
          <a:bodyPr wrap="square" lIns="54864" tIns="27432" rIns="54864" bIns="27432">
            <a:spAutoFit/>
          </a:bodyPr>
          <a:lstStyle/>
          <a:p>
            <a:pPr>
              <a:spcAft>
                <a:spcPts val="400"/>
              </a:spcAft>
              <a:defRPr sz="1600">
                <a:solidFill>
                  <a:srgbClr val="232D32"/>
                </a:solidFill>
                <a:latin typeface="Aptos"/>
              </a:defRPr>
            </a:pPr>
            <a:r>
              <a:rPr dirty="0"/>
              <a:t>• Dataset inspection &amp; descriptive statistics</a:t>
            </a:r>
          </a:p>
          <a:p>
            <a:pPr>
              <a:spcAft>
                <a:spcPts val="400"/>
              </a:spcAft>
              <a:defRPr sz="1600">
                <a:solidFill>
                  <a:srgbClr val="232D32"/>
                </a:solidFill>
                <a:latin typeface="Aptos"/>
              </a:defRPr>
            </a:pPr>
            <a:r>
              <a:rPr dirty="0"/>
              <a:t>• Missing-value treatment and duplicate verification</a:t>
            </a:r>
          </a:p>
          <a:p>
            <a:pPr>
              <a:spcAft>
                <a:spcPts val="400"/>
              </a:spcAft>
              <a:defRPr sz="1600">
                <a:solidFill>
                  <a:srgbClr val="232D32"/>
                </a:solidFill>
                <a:latin typeface="Aptos"/>
              </a:defRPr>
            </a:pPr>
            <a:r>
              <a:rPr dirty="0"/>
              <a:t>• Seasonal and crop-wise exploratory analysis</a:t>
            </a:r>
          </a:p>
          <a:p>
            <a:pPr>
              <a:spcAft>
                <a:spcPts val="400"/>
              </a:spcAft>
              <a:defRPr sz="1600">
                <a:solidFill>
                  <a:srgbClr val="232D32"/>
                </a:solidFill>
                <a:latin typeface="Aptos"/>
              </a:defRPr>
            </a:pPr>
            <a:r>
              <a:rPr dirty="0"/>
              <a:t>• Correlation and significance testing</a:t>
            </a:r>
          </a:p>
          <a:p>
            <a:pPr>
              <a:spcAft>
                <a:spcPts val="400"/>
              </a:spcAft>
              <a:defRPr sz="1600">
                <a:solidFill>
                  <a:srgbClr val="232D32"/>
                </a:solidFill>
                <a:latin typeface="Aptos"/>
              </a:defRPr>
            </a:pPr>
            <a:r>
              <a:rPr dirty="0"/>
              <a:t>• One-Way ANOVA + Kruskal-Wallis validation</a:t>
            </a:r>
          </a:p>
          <a:p>
            <a:pPr>
              <a:spcAft>
                <a:spcPts val="400"/>
              </a:spcAft>
              <a:defRPr sz="1600">
                <a:solidFill>
                  <a:srgbClr val="232D32"/>
                </a:solidFill>
                <a:latin typeface="Aptos"/>
              </a:defRPr>
            </a:pPr>
            <a:r>
              <a:rPr dirty="0"/>
              <a:t>• Multiple linear regression and model evaluation</a:t>
            </a:r>
          </a:p>
        </p:txBody>
      </p:sp>
      <p:sp>
        <p:nvSpPr>
          <p:cNvPr id="14" name="TextBox 13"/>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3</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WHO ARE THE END USERS?</a:t>
            </a:r>
          </a:p>
        </p:txBody>
      </p:sp>
      <p:sp>
        <p:nvSpPr>
          <p:cNvPr id="18" name="TextBox 17"/>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sp>
        <p:nvSpPr>
          <p:cNvPr id="19" name="Rounded Rectangle 18"/>
          <p:cNvSpPr/>
          <p:nvPr/>
        </p:nvSpPr>
        <p:spPr>
          <a:xfrm>
            <a:off x="822960" y="1508760"/>
            <a:ext cx="4572000" cy="15087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1600200"/>
            <a:ext cx="4352544" cy="256032"/>
          </a:xfrm>
          <a:prstGeom prst="rect">
            <a:avLst/>
          </a:prstGeom>
          <a:noFill/>
        </p:spPr>
        <p:txBody>
          <a:bodyPr wrap="none" lIns="54864" tIns="54864" rIns="54864" bIns="54864" anchor="t">
            <a:spAutoFit/>
          </a:bodyPr>
          <a:lstStyle/>
          <a:p>
            <a:pPr algn="l"/>
            <a:r>
              <a:rPr sz="1000" b="1" i="0">
                <a:solidFill>
                  <a:srgbClr val="465A64"/>
                </a:solidFill>
                <a:latin typeface="Aptos"/>
              </a:rPr>
              <a:t>Farmers &amp; farm managers</a:t>
            </a:r>
          </a:p>
        </p:txBody>
      </p:sp>
      <p:sp>
        <p:nvSpPr>
          <p:cNvPr id="21" name="TextBox 20"/>
          <p:cNvSpPr txBox="1"/>
          <p:nvPr/>
        </p:nvSpPr>
        <p:spPr>
          <a:xfrm>
            <a:off x="932688" y="1865376"/>
            <a:ext cx="4352544" cy="438912"/>
          </a:xfrm>
          <a:prstGeom prst="rect">
            <a:avLst/>
          </a:prstGeom>
          <a:noFill/>
        </p:spPr>
        <p:txBody>
          <a:bodyPr wrap="none" lIns="54864" tIns="54864" rIns="54864" bIns="54864" anchor="t">
            <a:spAutoFit/>
          </a:bodyPr>
          <a:lstStyle/>
          <a:p>
            <a:pPr algn="l"/>
            <a:r>
              <a:rPr sz="2100" b="1" i="0">
                <a:solidFill>
                  <a:srgbClr val="146478"/>
                </a:solidFill>
                <a:latin typeface="Aptos"/>
              </a:rPr>
              <a:t>DATA-DRIVEN</a:t>
            </a:r>
          </a:p>
        </p:txBody>
      </p:sp>
      <p:sp>
        <p:nvSpPr>
          <p:cNvPr id="22" name="TextBox 21"/>
          <p:cNvSpPr txBox="1"/>
          <p:nvPr/>
        </p:nvSpPr>
        <p:spPr>
          <a:xfrm>
            <a:off x="932688" y="2688336"/>
            <a:ext cx="4352544" cy="228600"/>
          </a:xfrm>
          <a:prstGeom prst="rect">
            <a:avLst/>
          </a:prstGeom>
          <a:noFill/>
        </p:spPr>
        <p:txBody>
          <a:bodyPr wrap="none" lIns="54864" tIns="54864" rIns="54864" bIns="54864" anchor="t">
            <a:spAutoFit/>
          </a:bodyPr>
          <a:lstStyle/>
          <a:p>
            <a:pPr algn="l"/>
            <a:r>
              <a:rPr sz="850" b="0" i="0">
                <a:solidFill>
                  <a:srgbClr val="5F696E"/>
                </a:solidFill>
                <a:latin typeface="Aptos"/>
              </a:rPr>
              <a:t>Use yield, water-use and crop comparisons for planning.</a:t>
            </a:r>
          </a:p>
        </p:txBody>
      </p:sp>
      <p:sp>
        <p:nvSpPr>
          <p:cNvPr id="23" name="Rounded Rectangle 22"/>
          <p:cNvSpPr/>
          <p:nvPr/>
        </p:nvSpPr>
        <p:spPr>
          <a:xfrm>
            <a:off x="5715000" y="1508760"/>
            <a:ext cx="4572000" cy="15087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24728" y="1600200"/>
            <a:ext cx="4352544" cy="256032"/>
          </a:xfrm>
          <a:prstGeom prst="rect">
            <a:avLst/>
          </a:prstGeom>
          <a:noFill/>
        </p:spPr>
        <p:txBody>
          <a:bodyPr wrap="none" lIns="54864" tIns="54864" rIns="54864" bIns="54864" anchor="t">
            <a:spAutoFit/>
          </a:bodyPr>
          <a:lstStyle/>
          <a:p>
            <a:pPr algn="l"/>
            <a:r>
              <a:rPr sz="1000" b="1" i="0">
                <a:solidFill>
                  <a:srgbClr val="465A64"/>
                </a:solidFill>
                <a:latin typeface="Aptos"/>
              </a:rPr>
              <a:t>Agricultural analysts</a:t>
            </a:r>
          </a:p>
        </p:txBody>
      </p:sp>
      <p:sp>
        <p:nvSpPr>
          <p:cNvPr id="25" name="TextBox 24"/>
          <p:cNvSpPr txBox="1"/>
          <p:nvPr/>
        </p:nvSpPr>
        <p:spPr>
          <a:xfrm>
            <a:off x="5824728" y="1865376"/>
            <a:ext cx="4352544" cy="438912"/>
          </a:xfrm>
          <a:prstGeom prst="rect">
            <a:avLst/>
          </a:prstGeom>
          <a:noFill/>
        </p:spPr>
        <p:txBody>
          <a:bodyPr wrap="none" lIns="54864" tIns="54864" rIns="54864" bIns="54864" anchor="t">
            <a:spAutoFit/>
          </a:bodyPr>
          <a:lstStyle/>
          <a:p>
            <a:pPr algn="l"/>
            <a:r>
              <a:rPr sz="2100" b="1" i="0">
                <a:solidFill>
                  <a:srgbClr val="146478"/>
                </a:solidFill>
                <a:latin typeface="Aptos"/>
              </a:rPr>
              <a:t>DATA-DRIVEN</a:t>
            </a:r>
          </a:p>
        </p:txBody>
      </p:sp>
      <p:sp>
        <p:nvSpPr>
          <p:cNvPr id="26" name="TextBox 25"/>
          <p:cNvSpPr txBox="1"/>
          <p:nvPr/>
        </p:nvSpPr>
        <p:spPr>
          <a:xfrm>
            <a:off x="5824728" y="2688336"/>
            <a:ext cx="4352544" cy="228600"/>
          </a:xfrm>
          <a:prstGeom prst="rect">
            <a:avLst/>
          </a:prstGeom>
          <a:noFill/>
        </p:spPr>
        <p:txBody>
          <a:bodyPr wrap="none" lIns="54864" tIns="54864" rIns="54864" bIns="54864" anchor="t">
            <a:spAutoFit/>
          </a:bodyPr>
          <a:lstStyle/>
          <a:p>
            <a:pPr algn="l"/>
            <a:r>
              <a:rPr sz="850" b="0" i="0">
                <a:solidFill>
                  <a:srgbClr val="5F696E"/>
                </a:solidFill>
                <a:latin typeface="Aptos"/>
              </a:rPr>
              <a:t>Interpret seasonal and crop-wise patterns from the dataset.</a:t>
            </a:r>
          </a:p>
        </p:txBody>
      </p:sp>
      <p:sp>
        <p:nvSpPr>
          <p:cNvPr id="27" name="Rounded Rectangle 26"/>
          <p:cNvSpPr/>
          <p:nvPr/>
        </p:nvSpPr>
        <p:spPr>
          <a:xfrm>
            <a:off x="822960" y="3520440"/>
            <a:ext cx="4572000" cy="15087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3611880"/>
            <a:ext cx="4352544" cy="256032"/>
          </a:xfrm>
          <a:prstGeom prst="rect">
            <a:avLst/>
          </a:prstGeom>
          <a:noFill/>
        </p:spPr>
        <p:txBody>
          <a:bodyPr wrap="none" lIns="54864" tIns="54864" rIns="54864" bIns="54864" anchor="t">
            <a:spAutoFit/>
          </a:bodyPr>
          <a:lstStyle/>
          <a:p>
            <a:pPr algn="l"/>
            <a:r>
              <a:rPr sz="1000" b="1" i="0">
                <a:solidFill>
                  <a:srgbClr val="465A64"/>
                </a:solidFill>
                <a:latin typeface="Aptos"/>
              </a:rPr>
              <a:t>Researchers &amp; students</a:t>
            </a:r>
          </a:p>
        </p:txBody>
      </p:sp>
      <p:sp>
        <p:nvSpPr>
          <p:cNvPr id="29" name="TextBox 28"/>
          <p:cNvSpPr txBox="1"/>
          <p:nvPr/>
        </p:nvSpPr>
        <p:spPr>
          <a:xfrm>
            <a:off x="932688" y="3877056"/>
            <a:ext cx="4352544" cy="438912"/>
          </a:xfrm>
          <a:prstGeom prst="rect">
            <a:avLst/>
          </a:prstGeom>
          <a:noFill/>
        </p:spPr>
        <p:txBody>
          <a:bodyPr wrap="none" lIns="54864" tIns="54864" rIns="54864" bIns="54864" anchor="t">
            <a:spAutoFit/>
          </a:bodyPr>
          <a:lstStyle/>
          <a:p>
            <a:pPr algn="l"/>
            <a:r>
              <a:rPr sz="2100" b="1" i="0">
                <a:solidFill>
                  <a:srgbClr val="146478"/>
                </a:solidFill>
                <a:latin typeface="Aptos"/>
              </a:rPr>
              <a:t>DATA-DRIVEN</a:t>
            </a:r>
          </a:p>
        </p:txBody>
      </p:sp>
      <p:sp>
        <p:nvSpPr>
          <p:cNvPr id="30" name="TextBox 29"/>
          <p:cNvSpPr txBox="1"/>
          <p:nvPr/>
        </p:nvSpPr>
        <p:spPr>
          <a:xfrm>
            <a:off x="932688" y="4700016"/>
            <a:ext cx="4352544" cy="228600"/>
          </a:xfrm>
          <a:prstGeom prst="rect">
            <a:avLst/>
          </a:prstGeom>
          <a:noFill/>
        </p:spPr>
        <p:txBody>
          <a:bodyPr wrap="none" lIns="54864" tIns="54864" rIns="54864" bIns="54864" anchor="t">
            <a:spAutoFit/>
          </a:bodyPr>
          <a:lstStyle/>
          <a:p>
            <a:pPr algn="l"/>
            <a:r>
              <a:rPr sz="850" b="0" i="0">
                <a:solidFill>
                  <a:srgbClr val="5F696E"/>
                </a:solidFill>
                <a:latin typeface="Aptos"/>
              </a:rPr>
              <a:t>Use statistical and regression analysis as an analytical case study.</a:t>
            </a:r>
          </a:p>
        </p:txBody>
      </p:sp>
      <p:sp>
        <p:nvSpPr>
          <p:cNvPr id="31" name="Rounded Rectangle 30"/>
          <p:cNvSpPr/>
          <p:nvPr/>
        </p:nvSpPr>
        <p:spPr>
          <a:xfrm>
            <a:off x="5715000" y="3520440"/>
            <a:ext cx="4572000" cy="15087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24728" y="3611880"/>
            <a:ext cx="4352544" cy="256032"/>
          </a:xfrm>
          <a:prstGeom prst="rect">
            <a:avLst/>
          </a:prstGeom>
          <a:noFill/>
        </p:spPr>
        <p:txBody>
          <a:bodyPr wrap="none" lIns="54864" tIns="54864" rIns="54864" bIns="54864" anchor="t">
            <a:spAutoFit/>
          </a:bodyPr>
          <a:lstStyle/>
          <a:p>
            <a:pPr algn="l"/>
            <a:r>
              <a:rPr sz="1000" b="1" i="0">
                <a:solidFill>
                  <a:srgbClr val="465A64"/>
                </a:solidFill>
                <a:latin typeface="Aptos"/>
              </a:rPr>
              <a:t>Planners &amp; policymakers</a:t>
            </a:r>
          </a:p>
        </p:txBody>
      </p:sp>
      <p:sp>
        <p:nvSpPr>
          <p:cNvPr id="33" name="TextBox 32"/>
          <p:cNvSpPr txBox="1"/>
          <p:nvPr/>
        </p:nvSpPr>
        <p:spPr>
          <a:xfrm>
            <a:off x="5824728" y="3877056"/>
            <a:ext cx="4352544" cy="438912"/>
          </a:xfrm>
          <a:prstGeom prst="rect">
            <a:avLst/>
          </a:prstGeom>
          <a:noFill/>
        </p:spPr>
        <p:txBody>
          <a:bodyPr wrap="none" lIns="54864" tIns="54864" rIns="54864" bIns="54864" anchor="t">
            <a:spAutoFit/>
          </a:bodyPr>
          <a:lstStyle/>
          <a:p>
            <a:pPr algn="l"/>
            <a:r>
              <a:rPr sz="2100" b="1" i="0">
                <a:solidFill>
                  <a:srgbClr val="146478"/>
                </a:solidFill>
                <a:latin typeface="Aptos"/>
              </a:rPr>
              <a:t>DATA-DRIVEN</a:t>
            </a:r>
          </a:p>
        </p:txBody>
      </p:sp>
      <p:sp>
        <p:nvSpPr>
          <p:cNvPr id="34" name="TextBox 33"/>
          <p:cNvSpPr txBox="1"/>
          <p:nvPr/>
        </p:nvSpPr>
        <p:spPr>
          <a:xfrm>
            <a:off x="5824728" y="4700016"/>
            <a:ext cx="4352544" cy="228600"/>
          </a:xfrm>
          <a:prstGeom prst="rect">
            <a:avLst/>
          </a:prstGeom>
          <a:noFill/>
        </p:spPr>
        <p:txBody>
          <a:bodyPr wrap="none" lIns="54864" tIns="54864" rIns="54864" bIns="54864" anchor="t">
            <a:spAutoFit/>
          </a:bodyPr>
          <a:lstStyle/>
          <a:p>
            <a:pPr algn="l"/>
            <a:r>
              <a:rPr sz="850" b="0" i="0">
                <a:solidFill>
                  <a:srgbClr val="5F696E"/>
                </a:solidFill>
                <a:latin typeface="Aptos"/>
              </a:rPr>
              <a:t>Support evidence-based resource and agricultural planning.</a:t>
            </a:r>
          </a:p>
        </p:txBody>
      </p:sp>
      <p:sp>
        <p:nvSpPr>
          <p:cNvPr id="35" name="TextBox 34"/>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4</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17" name="TextBox 16"/>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TECHNOLOGY USED</a:t>
            </a:r>
          </a:p>
        </p:txBody>
      </p:sp>
      <p:sp>
        <p:nvSpPr>
          <p:cNvPr id="18" name="TextBox 17"/>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sp>
        <p:nvSpPr>
          <p:cNvPr id="19" name="Rounded Rectangle 18"/>
          <p:cNvSpPr/>
          <p:nvPr/>
        </p:nvSpPr>
        <p:spPr>
          <a:xfrm>
            <a:off x="777240" y="1417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1508760"/>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Python</a:t>
            </a:r>
          </a:p>
        </p:txBody>
      </p:sp>
      <p:sp>
        <p:nvSpPr>
          <p:cNvPr id="21" name="TextBox 20"/>
          <p:cNvSpPr txBox="1"/>
          <p:nvPr/>
        </p:nvSpPr>
        <p:spPr>
          <a:xfrm>
            <a:off x="886968" y="1773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Core programming language</a:t>
            </a:r>
          </a:p>
        </p:txBody>
      </p:sp>
      <p:sp>
        <p:nvSpPr>
          <p:cNvPr id="22" name="Rounded Rectangle 21"/>
          <p:cNvSpPr/>
          <p:nvPr/>
        </p:nvSpPr>
        <p:spPr>
          <a:xfrm>
            <a:off x="5943600" y="1417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53328" y="1508760"/>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Pandas</a:t>
            </a:r>
          </a:p>
        </p:txBody>
      </p:sp>
      <p:sp>
        <p:nvSpPr>
          <p:cNvPr id="24" name="TextBox 23"/>
          <p:cNvSpPr txBox="1"/>
          <p:nvPr/>
        </p:nvSpPr>
        <p:spPr>
          <a:xfrm>
            <a:off x="6053328" y="1773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Data manipulation &amp; analysis</a:t>
            </a:r>
          </a:p>
        </p:txBody>
      </p:sp>
      <p:sp>
        <p:nvSpPr>
          <p:cNvPr id="25" name="Rounded Rectangle 24"/>
          <p:cNvSpPr/>
          <p:nvPr/>
        </p:nvSpPr>
        <p:spPr>
          <a:xfrm>
            <a:off x="777240" y="2560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968" y="2651760"/>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NumPy</a:t>
            </a:r>
          </a:p>
        </p:txBody>
      </p:sp>
      <p:sp>
        <p:nvSpPr>
          <p:cNvPr id="27" name="TextBox 26"/>
          <p:cNvSpPr txBox="1"/>
          <p:nvPr/>
        </p:nvSpPr>
        <p:spPr>
          <a:xfrm>
            <a:off x="886968" y="2916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Numerical computation</a:t>
            </a:r>
          </a:p>
        </p:txBody>
      </p:sp>
      <p:sp>
        <p:nvSpPr>
          <p:cNvPr id="28" name="Rounded Rectangle 27"/>
          <p:cNvSpPr/>
          <p:nvPr/>
        </p:nvSpPr>
        <p:spPr>
          <a:xfrm>
            <a:off x="5943600" y="2560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53328" y="2651760"/>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Matplotlib</a:t>
            </a:r>
          </a:p>
        </p:txBody>
      </p:sp>
      <p:sp>
        <p:nvSpPr>
          <p:cNvPr id="30" name="TextBox 29"/>
          <p:cNvSpPr txBox="1"/>
          <p:nvPr/>
        </p:nvSpPr>
        <p:spPr>
          <a:xfrm>
            <a:off x="6053328" y="2916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Data visualization</a:t>
            </a:r>
          </a:p>
        </p:txBody>
      </p:sp>
      <p:sp>
        <p:nvSpPr>
          <p:cNvPr id="31" name="Rounded Rectangle 30"/>
          <p:cNvSpPr/>
          <p:nvPr/>
        </p:nvSpPr>
        <p:spPr>
          <a:xfrm>
            <a:off x="777240" y="3703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 y="3794759"/>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Seaborn</a:t>
            </a:r>
          </a:p>
        </p:txBody>
      </p:sp>
      <p:sp>
        <p:nvSpPr>
          <p:cNvPr id="33" name="TextBox 32"/>
          <p:cNvSpPr txBox="1"/>
          <p:nvPr/>
        </p:nvSpPr>
        <p:spPr>
          <a:xfrm>
            <a:off x="886968" y="4059935"/>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Statistical visualizations</a:t>
            </a:r>
          </a:p>
        </p:txBody>
      </p:sp>
      <p:sp>
        <p:nvSpPr>
          <p:cNvPr id="34" name="Rounded Rectangle 33"/>
          <p:cNvSpPr/>
          <p:nvPr/>
        </p:nvSpPr>
        <p:spPr>
          <a:xfrm>
            <a:off x="5943600" y="3703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53328" y="3794759"/>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SciPy</a:t>
            </a:r>
          </a:p>
        </p:txBody>
      </p:sp>
      <p:sp>
        <p:nvSpPr>
          <p:cNvPr id="36" name="TextBox 35"/>
          <p:cNvSpPr txBox="1"/>
          <p:nvPr/>
        </p:nvSpPr>
        <p:spPr>
          <a:xfrm>
            <a:off x="6053328" y="4059935"/>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ANOVA &amp; Kruskal-Wallis tests</a:t>
            </a:r>
          </a:p>
        </p:txBody>
      </p:sp>
      <p:sp>
        <p:nvSpPr>
          <p:cNvPr id="37" name="Rounded Rectangle 36"/>
          <p:cNvSpPr/>
          <p:nvPr/>
        </p:nvSpPr>
        <p:spPr>
          <a:xfrm>
            <a:off x="777240" y="4846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86968" y="4937759"/>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Scikit-learn</a:t>
            </a:r>
          </a:p>
        </p:txBody>
      </p:sp>
      <p:sp>
        <p:nvSpPr>
          <p:cNvPr id="39" name="TextBox 38"/>
          <p:cNvSpPr txBox="1"/>
          <p:nvPr/>
        </p:nvSpPr>
        <p:spPr>
          <a:xfrm>
            <a:off x="886968" y="5202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Regression &amp; model evaluation</a:t>
            </a:r>
          </a:p>
        </p:txBody>
      </p:sp>
      <p:sp>
        <p:nvSpPr>
          <p:cNvPr id="40" name="Rounded Rectangle 39"/>
          <p:cNvSpPr/>
          <p:nvPr/>
        </p:nvSpPr>
        <p:spPr>
          <a:xfrm>
            <a:off x="5943600" y="4846320"/>
            <a:ext cx="4754880" cy="89611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053328" y="4937759"/>
            <a:ext cx="4535424" cy="256032"/>
          </a:xfrm>
          <a:prstGeom prst="rect">
            <a:avLst/>
          </a:prstGeom>
          <a:noFill/>
        </p:spPr>
        <p:txBody>
          <a:bodyPr wrap="none" lIns="54864" tIns="54864" rIns="54864" bIns="54864" anchor="t">
            <a:spAutoFit/>
          </a:bodyPr>
          <a:lstStyle/>
          <a:p>
            <a:pPr algn="l"/>
            <a:r>
              <a:rPr sz="1000" b="1" i="0">
                <a:solidFill>
                  <a:srgbClr val="465A64"/>
                </a:solidFill>
                <a:latin typeface="Aptos"/>
              </a:rPr>
              <a:t>Google Colab</a:t>
            </a:r>
          </a:p>
        </p:txBody>
      </p:sp>
      <p:sp>
        <p:nvSpPr>
          <p:cNvPr id="42" name="TextBox 41"/>
          <p:cNvSpPr txBox="1"/>
          <p:nvPr/>
        </p:nvSpPr>
        <p:spPr>
          <a:xfrm>
            <a:off x="6053328" y="5202936"/>
            <a:ext cx="4535424" cy="438912"/>
          </a:xfrm>
          <a:prstGeom prst="rect">
            <a:avLst/>
          </a:prstGeom>
          <a:noFill/>
        </p:spPr>
        <p:txBody>
          <a:bodyPr wrap="none" lIns="54864" tIns="54864" rIns="54864" bIns="54864" anchor="t">
            <a:spAutoFit/>
          </a:bodyPr>
          <a:lstStyle/>
          <a:p>
            <a:pPr algn="l"/>
            <a:r>
              <a:rPr sz="2100" b="1" i="0">
                <a:solidFill>
                  <a:srgbClr val="146478"/>
                </a:solidFill>
                <a:latin typeface="Aptos"/>
              </a:rPr>
              <a:t>Notebook execution environment</a:t>
            </a:r>
          </a:p>
        </p:txBody>
      </p:sp>
      <p:sp>
        <p:nvSpPr>
          <p:cNvPr id="43" name="TextBox 42"/>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5</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RESULTS — DATASET &amp; DATA QUALITY</a:t>
            </a:r>
          </a:p>
        </p:txBody>
      </p:sp>
      <p:sp>
        <p:nvSpPr>
          <p:cNvPr id="25" name="TextBox 24"/>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pic>
        <p:nvPicPr>
          <p:cNvPr id="26" name="Picture 25" descr="nb_cell_31_0.png"/>
          <p:cNvPicPr>
            <a:picLocks noChangeAspect="1"/>
          </p:cNvPicPr>
          <p:nvPr/>
        </p:nvPicPr>
        <p:blipFill>
          <a:blip r:embed="rId3"/>
          <a:stretch>
            <a:fillRect/>
          </a:stretch>
        </p:blipFill>
        <p:spPr>
          <a:xfrm>
            <a:off x="685800" y="1234440"/>
            <a:ext cx="4983480" cy="2971800"/>
          </a:xfrm>
          <a:prstGeom prst="rect">
            <a:avLst/>
          </a:prstGeom>
        </p:spPr>
      </p:pic>
      <p:pic>
        <p:nvPicPr>
          <p:cNvPr id="27" name="Picture 26" descr="nb_cell_33_0.png"/>
          <p:cNvPicPr>
            <a:picLocks noChangeAspect="1"/>
          </p:cNvPicPr>
          <p:nvPr/>
        </p:nvPicPr>
        <p:blipFill>
          <a:blip r:embed="rId4"/>
          <a:stretch>
            <a:fillRect/>
          </a:stretch>
        </p:blipFill>
        <p:spPr>
          <a:xfrm>
            <a:off x="5897880" y="1234440"/>
            <a:ext cx="4983480" cy="2971800"/>
          </a:xfrm>
          <a:prstGeom prst="rect">
            <a:avLst/>
          </a:prstGeom>
        </p:spPr>
      </p:pic>
      <p:sp>
        <p:nvSpPr>
          <p:cNvPr id="28" name="Rounded Rectangle 27"/>
          <p:cNvSpPr/>
          <p:nvPr/>
        </p:nvSpPr>
        <p:spPr>
          <a:xfrm>
            <a:off x="777240" y="4434840"/>
            <a:ext cx="2331720" cy="1024128"/>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6968" y="4526279"/>
            <a:ext cx="2112263" cy="256032"/>
          </a:xfrm>
          <a:prstGeom prst="rect">
            <a:avLst/>
          </a:prstGeom>
          <a:noFill/>
        </p:spPr>
        <p:txBody>
          <a:bodyPr wrap="none" lIns="54864" tIns="54864" rIns="54864" bIns="54864" anchor="t">
            <a:spAutoFit/>
          </a:bodyPr>
          <a:lstStyle/>
          <a:p>
            <a:pPr algn="l"/>
            <a:r>
              <a:rPr sz="1000" b="1" i="0">
                <a:solidFill>
                  <a:srgbClr val="465A64"/>
                </a:solidFill>
                <a:latin typeface="Aptos"/>
              </a:rPr>
              <a:t>Initial missing values</a:t>
            </a:r>
          </a:p>
        </p:txBody>
      </p:sp>
      <p:sp>
        <p:nvSpPr>
          <p:cNvPr id="30" name="TextBox 29"/>
          <p:cNvSpPr txBox="1"/>
          <p:nvPr/>
        </p:nvSpPr>
        <p:spPr>
          <a:xfrm>
            <a:off x="886968" y="4791455"/>
            <a:ext cx="2112263" cy="438912"/>
          </a:xfrm>
          <a:prstGeom prst="rect">
            <a:avLst/>
          </a:prstGeom>
          <a:noFill/>
        </p:spPr>
        <p:txBody>
          <a:bodyPr wrap="none" lIns="54864" tIns="54864" rIns="54864" bIns="54864" anchor="t">
            <a:spAutoFit/>
          </a:bodyPr>
          <a:lstStyle/>
          <a:p>
            <a:pPr algn="l"/>
            <a:r>
              <a:rPr sz="2100" b="1" i="0">
                <a:solidFill>
                  <a:srgbClr val="146478"/>
                </a:solidFill>
                <a:latin typeface="Aptos"/>
              </a:rPr>
              <a:t>120</a:t>
            </a:r>
          </a:p>
        </p:txBody>
      </p:sp>
      <p:sp>
        <p:nvSpPr>
          <p:cNvPr id="31" name="TextBox 30"/>
          <p:cNvSpPr txBox="1"/>
          <p:nvPr/>
        </p:nvSpPr>
        <p:spPr>
          <a:xfrm>
            <a:off x="886968" y="5129783"/>
            <a:ext cx="2112263" cy="228600"/>
          </a:xfrm>
          <a:prstGeom prst="rect">
            <a:avLst/>
          </a:prstGeom>
          <a:noFill/>
        </p:spPr>
        <p:txBody>
          <a:bodyPr wrap="none" lIns="54864" tIns="54864" rIns="54864" bIns="54864" anchor="t">
            <a:spAutoFit/>
          </a:bodyPr>
          <a:lstStyle/>
          <a:p>
            <a:pPr algn="l"/>
            <a:r>
              <a:rPr sz="850" b="0" i="0">
                <a:solidFill>
                  <a:srgbClr val="5F696E"/>
                </a:solidFill>
                <a:latin typeface="Aptos"/>
              </a:rPr>
              <a:t>across 3 numeric variables</a:t>
            </a:r>
          </a:p>
        </p:txBody>
      </p:sp>
      <p:sp>
        <p:nvSpPr>
          <p:cNvPr id="32" name="Rounded Rectangle 31"/>
          <p:cNvSpPr/>
          <p:nvPr/>
        </p:nvSpPr>
        <p:spPr>
          <a:xfrm>
            <a:off x="3337560" y="4434840"/>
            <a:ext cx="2331720" cy="1024128"/>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47288" y="4526279"/>
            <a:ext cx="2112263" cy="256032"/>
          </a:xfrm>
          <a:prstGeom prst="rect">
            <a:avLst/>
          </a:prstGeom>
          <a:noFill/>
        </p:spPr>
        <p:txBody>
          <a:bodyPr wrap="none" lIns="54864" tIns="54864" rIns="54864" bIns="54864" anchor="t">
            <a:spAutoFit/>
          </a:bodyPr>
          <a:lstStyle/>
          <a:p>
            <a:pPr algn="l"/>
            <a:r>
              <a:rPr sz="1000" b="1" i="0">
                <a:solidFill>
                  <a:srgbClr val="465A64"/>
                </a:solidFill>
                <a:latin typeface="Aptos"/>
              </a:rPr>
              <a:t>Duplicates</a:t>
            </a:r>
          </a:p>
        </p:txBody>
      </p:sp>
      <p:sp>
        <p:nvSpPr>
          <p:cNvPr id="34" name="TextBox 33"/>
          <p:cNvSpPr txBox="1"/>
          <p:nvPr/>
        </p:nvSpPr>
        <p:spPr>
          <a:xfrm>
            <a:off x="3447288" y="4791455"/>
            <a:ext cx="2112263" cy="438912"/>
          </a:xfrm>
          <a:prstGeom prst="rect">
            <a:avLst/>
          </a:prstGeom>
          <a:noFill/>
        </p:spPr>
        <p:txBody>
          <a:bodyPr wrap="none" lIns="54864" tIns="54864" rIns="54864" bIns="54864" anchor="t">
            <a:spAutoFit/>
          </a:bodyPr>
          <a:lstStyle/>
          <a:p>
            <a:pPr algn="l"/>
            <a:r>
              <a:rPr sz="2100" b="1" i="0">
                <a:solidFill>
                  <a:srgbClr val="146478"/>
                </a:solidFill>
                <a:latin typeface="Aptos"/>
              </a:rPr>
              <a:t>0</a:t>
            </a:r>
          </a:p>
        </p:txBody>
      </p:sp>
      <p:sp>
        <p:nvSpPr>
          <p:cNvPr id="35" name="TextBox 34"/>
          <p:cNvSpPr txBox="1"/>
          <p:nvPr/>
        </p:nvSpPr>
        <p:spPr>
          <a:xfrm>
            <a:off x="3447288" y="5129783"/>
            <a:ext cx="2112263" cy="228600"/>
          </a:xfrm>
          <a:prstGeom prst="rect">
            <a:avLst/>
          </a:prstGeom>
          <a:noFill/>
        </p:spPr>
        <p:txBody>
          <a:bodyPr wrap="none" lIns="54864" tIns="54864" rIns="54864" bIns="54864" anchor="t">
            <a:spAutoFit/>
          </a:bodyPr>
          <a:lstStyle/>
          <a:p>
            <a:pPr algn="l"/>
            <a:r>
              <a:rPr sz="850" b="0" i="0">
                <a:solidFill>
                  <a:srgbClr val="5F696E"/>
                </a:solidFill>
                <a:latin typeface="Aptos"/>
              </a:rPr>
              <a:t>rows</a:t>
            </a:r>
          </a:p>
        </p:txBody>
      </p:sp>
      <p:sp>
        <p:nvSpPr>
          <p:cNvPr id="36" name="Rounded Rectangle 35"/>
          <p:cNvSpPr/>
          <p:nvPr/>
        </p:nvSpPr>
        <p:spPr>
          <a:xfrm>
            <a:off x="5897880" y="4434840"/>
            <a:ext cx="2331720" cy="1024128"/>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07608" y="4526279"/>
            <a:ext cx="2112263" cy="256032"/>
          </a:xfrm>
          <a:prstGeom prst="rect">
            <a:avLst/>
          </a:prstGeom>
          <a:noFill/>
        </p:spPr>
        <p:txBody>
          <a:bodyPr wrap="none" lIns="54864" tIns="54864" rIns="54864" bIns="54864" anchor="t">
            <a:spAutoFit/>
          </a:bodyPr>
          <a:lstStyle/>
          <a:p>
            <a:pPr algn="l"/>
            <a:r>
              <a:rPr sz="1000" b="1" i="0">
                <a:solidFill>
                  <a:srgbClr val="465A64"/>
                </a:solidFill>
                <a:latin typeface="Aptos"/>
              </a:rPr>
              <a:t>After cleaning</a:t>
            </a:r>
          </a:p>
        </p:txBody>
      </p:sp>
      <p:sp>
        <p:nvSpPr>
          <p:cNvPr id="38" name="TextBox 37"/>
          <p:cNvSpPr txBox="1"/>
          <p:nvPr/>
        </p:nvSpPr>
        <p:spPr>
          <a:xfrm>
            <a:off x="6007608" y="4791455"/>
            <a:ext cx="2112263" cy="438912"/>
          </a:xfrm>
          <a:prstGeom prst="rect">
            <a:avLst/>
          </a:prstGeom>
          <a:noFill/>
        </p:spPr>
        <p:txBody>
          <a:bodyPr wrap="none" lIns="54864" tIns="54864" rIns="54864" bIns="54864" anchor="t">
            <a:spAutoFit/>
          </a:bodyPr>
          <a:lstStyle/>
          <a:p>
            <a:pPr algn="l"/>
            <a:r>
              <a:rPr sz="2100" b="1" i="0">
                <a:solidFill>
                  <a:srgbClr val="146478"/>
                </a:solidFill>
                <a:latin typeface="Aptos"/>
              </a:rPr>
              <a:t>0</a:t>
            </a:r>
          </a:p>
        </p:txBody>
      </p:sp>
      <p:sp>
        <p:nvSpPr>
          <p:cNvPr id="39" name="TextBox 38"/>
          <p:cNvSpPr txBox="1"/>
          <p:nvPr/>
        </p:nvSpPr>
        <p:spPr>
          <a:xfrm>
            <a:off x="6007608" y="5129783"/>
            <a:ext cx="2112263" cy="228600"/>
          </a:xfrm>
          <a:prstGeom prst="rect">
            <a:avLst/>
          </a:prstGeom>
          <a:noFill/>
        </p:spPr>
        <p:txBody>
          <a:bodyPr wrap="none" lIns="54864" tIns="54864" rIns="54864" bIns="54864" anchor="t">
            <a:spAutoFit/>
          </a:bodyPr>
          <a:lstStyle/>
          <a:p>
            <a:pPr algn="l"/>
            <a:r>
              <a:rPr sz="850" b="0" i="0">
                <a:solidFill>
                  <a:srgbClr val="5F696E"/>
                </a:solidFill>
                <a:latin typeface="Aptos"/>
              </a:rPr>
              <a:t>missing values</a:t>
            </a:r>
          </a:p>
        </p:txBody>
      </p:sp>
      <p:sp>
        <p:nvSpPr>
          <p:cNvPr id="40" name="Rounded Rectangle 39"/>
          <p:cNvSpPr/>
          <p:nvPr/>
        </p:nvSpPr>
        <p:spPr>
          <a:xfrm>
            <a:off x="8458200" y="4434840"/>
            <a:ext cx="2331720" cy="1024128"/>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67928" y="4526279"/>
            <a:ext cx="2112263" cy="256032"/>
          </a:xfrm>
          <a:prstGeom prst="rect">
            <a:avLst/>
          </a:prstGeom>
          <a:noFill/>
        </p:spPr>
        <p:txBody>
          <a:bodyPr wrap="none" lIns="54864" tIns="54864" rIns="54864" bIns="54864" anchor="t">
            <a:spAutoFit/>
          </a:bodyPr>
          <a:lstStyle/>
          <a:p>
            <a:pPr algn="l"/>
            <a:r>
              <a:rPr sz="1000" b="1" i="0">
                <a:solidFill>
                  <a:srgbClr val="465A64"/>
                </a:solidFill>
                <a:latin typeface="Aptos"/>
              </a:rPr>
              <a:t>Final dataset</a:t>
            </a:r>
          </a:p>
        </p:txBody>
      </p:sp>
      <p:sp>
        <p:nvSpPr>
          <p:cNvPr id="42" name="TextBox 41"/>
          <p:cNvSpPr txBox="1"/>
          <p:nvPr/>
        </p:nvSpPr>
        <p:spPr>
          <a:xfrm>
            <a:off x="8567928" y="4791455"/>
            <a:ext cx="2112263" cy="438912"/>
          </a:xfrm>
          <a:prstGeom prst="rect">
            <a:avLst/>
          </a:prstGeom>
          <a:noFill/>
        </p:spPr>
        <p:txBody>
          <a:bodyPr wrap="none" lIns="54864" tIns="54864" rIns="54864" bIns="54864" anchor="t">
            <a:spAutoFit/>
          </a:bodyPr>
          <a:lstStyle/>
          <a:p>
            <a:pPr algn="l"/>
            <a:r>
              <a:rPr sz="2100" b="1" i="0">
                <a:solidFill>
                  <a:srgbClr val="146478"/>
                </a:solidFill>
                <a:latin typeface="Aptos"/>
              </a:rPr>
              <a:t>4,000 × 28</a:t>
            </a:r>
          </a:p>
        </p:txBody>
      </p:sp>
      <p:sp>
        <p:nvSpPr>
          <p:cNvPr id="43" name="TextBox 42"/>
          <p:cNvSpPr txBox="1"/>
          <p:nvPr/>
        </p:nvSpPr>
        <p:spPr>
          <a:xfrm>
            <a:off x="8567928" y="5129783"/>
            <a:ext cx="2112263" cy="228600"/>
          </a:xfrm>
          <a:prstGeom prst="rect">
            <a:avLst/>
          </a:prstGeom>
          <a:noFill/>
        </p:spPr>
        <p:txBody>
          <a:bodyPr wrap="none" lIns="54864" tIns="54864" rIns="54864" bIns="54864" anchor="t">
            <a:spAutoFit/>
          </a:bodyPr>
          <a:lstStyle/>
          <a:p>
            <a:pPr algn="l"/>
            <a:r>
              <a:rPr sz="850" b="0" i="0">
                <a:solidFill>
                  <a:srgbClr val="5F696E"/>
                </a:solidFill>
                <a:latin typeface="Aptos"/>
              </a:rPr>
              <a:t>retained</a:t>
            </a:r>
          </a:p>
        </p:txBody>
      </p:sp>
      <p:sp>
        <p:nvSpPr>
          <p:cNvPr id="44" name="TextBox 43"/>
          <p:cNvSpPr txBox="1"/>
          <p:nvPr/>
        </p:nvSpPr>
        <p:spPr>
          <a:xfrm>
            <a:off x="777240" y="5669280"/>
            <a:ext cx="10149840" cy="411480"/>
          </a:xfrm>
          <a:prstGeom prst="rect">
            <a:avLst/>
          </a:prstGeom>
          <a:noFill/>
        </p:spPr>
        <p:txBody>
          <a:bodyPr wrap="none" lIns="54864" tIns="54864" rIns="54864" bIns="54864" anchor="t">
            <a:spAutoFit/>
          </a:bodyPr>
          <a:lstStyle/>
          <a:p>
            <a:pPr algn="l"/>
            <a:r>
              <a:rPr sz="1250" b="0" i="0">
                <a:solidFill>
                  <a:srgbClr val="2D464B"/>
                </a:solidFill>
                <a:latin typeface="Aptos"/>
              </a:rPr>
              <a:t>Season records: Kharif 1,779 • Rabi 1,627 • Zaid 594 | Most records: Rice (690).</a:t>
            </a:r>
          </a:p>
        </p:txBody>
      </p:sp>
      <p:sp>
        <p:nvSpPr>
          <p:cNvPr id="45" name="TextBox 44"/>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6</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RESULTS — SEASONAL PERFORMANCE</a:t>
            </a:r>
          </a:p>
        </p:txBody>
      </p:sp>
      <p:sp>
        <p:nvSpPr>
          <p:cNvPr id="32" name="TextBox 31"/>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pic>
        <p:nvPicPr>
          <p:cNvPr id="33" name="Picture 32" descr="nb_cell_35_0.png"/>
          <p:cNvPicPr>
            <a:picLocks noChangeAspect="1"/>
          </p:cNvPicPr>
          <p:nvPr/>
        </p:nvPicPr>
        <p:blipFill>
          <a:blip r:embed="rId3"/>
          <a:stretch>
            <a:fillRect/>
          </a:stretch>
        </p:blipFill>
        <p:spPr>
          <a:xfrm>
            <a:off x="502920" y="1143000"/>
            <a:ext cx="3657600" cy="2880360"/>
          </a:xfrm>
          <a:prstGeom prst="rect">
            <a:avLst/>
          </a:prstGeom>
        </p:spPr>
      </p:pic>
      <p:pic>
        <p:nvPicPr>
          <p:cNvPr id="34" name="Picture 33" descr="nb_cell_40_0.png"/>
          <p:cNvPicPr>
            <a:picLocks noChangeAspect="1"/>
          </p:cNvPicPr>
          <p:nvPr/>
        </p:nvPicPr>
        <p:blipFill>
          <a:blip r:embed="rId4"/>
          <a:stretch>
            <a:fillRect/>
          </a:stretch>
        </p:blipFill>
        <p:spPr>
          <a:xfrm>
            <a:off x="4251960" y="1143000"/>
            <a:ext cx="3657600" cy="2880360"/>
          </a:xfrm>
          <a:prstGeom prst="rect">
            <a:avLst/>
          </a:prstGeom>
        </p:spPr>
      </p:pic>
      <p:pic>
        <p:nvPicPr>
          <p:cNvPr id="35" name="Picture 34" descr="nb_cell_44_0.png"/>
          <p:cNvPicPr>
            <a:picLocks noChangeAspect="1"/>
          </p:cNvPicPr>
          <p:nvPr/>
        </p:nvPicPr>
        <p:blipFill>
          <a:blip r:embed="rId5"/>
          <a:stretch>
            <a:fillRect/>
          </a:stretch>
        </p:blipFill>
        <p:spPr>
          <a:xfrm>
            <a:off x="8001000" y="1143000"/>
            <a:ext cx="3566160" cy="2880360"/>
          </a:xfrm>
          <a:prstGeom prst="rect">
            <a:avLst/>
          </a:prstGeom>
        </p:spPr>
      </p:pic>
      <p:sp>
        <p:nvSpPr>
          <p:cNvPr id="36" name="Rounded Rectangle 35"/>
          <p:cNvSpPr/>
          <p:nvPr/>
        </p:nvSpPr>
        <p:spPr>
          <a:xfrm>
            <a:off x="685800" y="4343400"/>
            <a:ext cx="3154680" cy="10515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95528" y="4434840"/>
            <a:ext cx="2935224" cy="256032"/>
          </a:xfrm>
          <a:prstGeom prst="rect">
            <a:avLst/>
          </a:prstGeom>
          <a:noFill/>
        </p:spPr>
        <p:txBody>
          <a:bodyPr wrap="none" lIns="54864" tIns="54864" rIns="54864" bIns="54864" anchor="t">
            <a:spAutoFit/>
          </a:bodyPr>
          <a:lstStyle/>
          <a:p>
            <a:pPr algn="l"/>
            <a:r>
              <a:rPr sz="1000" b="1" i="0">
                <a:solidFill>
                  <a:srgbClr val="465A64"/>
                </a:solidFill>
                <a:latin typeface="Aptos"/>
              </a:rPr>
              <a:t>Mean yield</a:t>
            </a:r>
          </a:p>
        </p:txBody>
      </p:sp>
      <p:sp>
        <p:nvSpPr>
          <p:cNvPr id="38" name="TextBox 37"/>
          <p:cNvSpPr txBox="1"/>
          <p:nvPr/>
        </p:nvSpPr>
        <p:spPr>
          <a:xfrm>
            <a:off x="795528" y="4700016"/>
            <a:ext cx="2935224" cy="438912"/>
          </a:xfrm>
          <a:prstGeom prst="rect">
            <a:avLst/>
          </a:prstGeom>
          <a:noFill/>
        </p:spPr>
        <p:txBody>
          <a:bodyPr wrap="none" lIns="54864" tIns="54864" rIns="54864" bIns="54864" anchor="t">
            <a:spAutoFit/>
          </a:bodyPr>
          <a:lstStyle/>
          <a:p>
            <a:pPr algn="l"/>
            <a:r>
              <a:rPr sz="2100" b="1" i="0">
                <a:solidFill>
                  <a:srgbClr val="146478"/>
                </a:solidFill>
                <a:latin typeface="Aptos"/>
              </a:rPr>
              <a:t>5.63 / 5.04 / 4.64</a:t>
            </a:r>
          </a:p>
        </p:txBody>
      </p:sp>
      <p:sp>
        <p:nvSpPr>
          <p:cNvPr id="39" name="TextBox 38"/>
          <p:cNvSpPr txBox="1"/>
          <p:nvPr/>
        </p:nvSpPr>
        <p:spPr>
          <a:xfrm>
            <a:off x="795528" y="5065776"/>
            <a:ext cx="2935224" cy="228600"/>
          </a:xfrm>
          <a:prstGeom prst="rect">
            <a:avLst/>
          </a:prstGeom>
          <a:noFill/>
        </p:spPr>
        <p:txBody>
          <a:bodyPr wrap="none" lIns="54864" tIns="54864" rIns="54864" bIns="54864" anchor="t">
            <a:spAutoFit/>
          </a:bodyPr>
          <a:lstStyle/>
          <a:p>
            <a:pPr algn="l"/>
            <a:r>
              <a:rPr sz="850" b="0" i="0">
                <a:solidFill>
                  <a:srgbClr val="5F696E"/>
                </a:solidFill>
                <a:latin typeface="Aptos"/>
              </a:rPr>
              <a:t>Kharif / Rabi / Zaid tonnes/ha</a:t>
            </a:r>
          </a:p>
        </p:txBody>
      </p:sp>
      <p:sp>
        <p:nvSpPr>
          <p:cNvPr id="40" name="Rounded Rectangle 39"/>
          <p:cNvSpPr/>
          <p:nvPr/>
        </p:nvSpPr>
        <p:spPr>
          <a:xfrm>
            <a:off x="4434840" y="4343400"/>
            <a:ext cx="3154680" cy="10515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44568" y="4434840"/>
            <a:ext cx="2935224" cy="256032"/>
          </a:xfrm>
          <a:prstGeom prst="rect">
            <a:avLst/>
          </a:prstGeom>
          <a:noFill/>
        </p:spPr>
        <p:txBody>
          <a:bodyPr wrap="none" lIns="54864" tIns="54864" rIns="54864" bIns="54864" anchor="t">
            <a:spAutoFit/>
          </a:bodyPr>
          <a:lstStyle/>
          <a:p>
            <a:pPr algn="l"/>
            <a:r>
              <a:rPr sz="1000" b="1" i="0">
                <a:solidFill>
                  <a:srgbClr val="465A64"/>
                </a:solidFill>
                <a:latin typeface="Aptos"/>
              </a:rPr>
              <a:t>Mean profit</a:t>
            </a:r>
          </a:p>
        </p:txBody>
      </p:sp>
      <p:sp>
        <p:nvSpPr>
          <p:cNvPr id="42" name="TextBox 41"/>
          <p:cNvSpPr txBox="1"/>
          <p:nvPr/>
        </p:nvSpPr>
        <p:spPr>
          <a:xfrm>
            <a:off x="4544568" y="4700016"/>
            <a:ext cx="2935224" cy="438912"/>
          </a:xfrm>
          <a:prstGeom prst="rect">
            <a:avLst/>
          </a:prstGeom>
          <a:noFill/>
        </p:spPr>
        <p:txBody>
          <a:bodyPr wrap="none" lIns="54864" tIns="54864" rIns="54864" bIns="54864" anchor="t">
            <a:spAutoFit/>
          </a:bodyPr>
          <a:lstStyle/>
          <a:p>
            <a:pPr algn="l"/>
            <a:r>
              <a:rPr sz="2100" b="1" i="0">
                <a:solidFill>
                  <a:srgbClr val="146478"/>
                </a:solidFill>
                <a:latin typeface="Aptos"/>
              </a:rPr>
              <a:t>₹178.9k / ₹87.7k / -₹24.8k</a:t>
            </a:r>
          </a:p>
        </p:txBody>
      </p:sp>
      <p:sp>
        <p:nvSpPr>
          <p:cNvPr id="43" name="TextBox 42"/>
          <p:cNvSpPr txBox="1"/>
          <p:nvPr/>
        </p:nvSpPr>
        <p:spPr>
          <a:xfrm>
            <a:off x="4544568" y="5065776"/>
            <a:ext cx="2935224" cy="228600"/>
          </a:xfrm>
          <a:prstGeom prst="rect">
            <a:avLst/>
          </a:prstGeom>
          <a:noFill/>
        </p:spPr>
        <p:txBody>
          <a:bodyPr wrap="none" lIns="54864" tIns="54864" rIns="54864" bIns="54864" anchor="t">
            <a:spAutoFit/>
          </a:bodyPr>
          <a:lstStyle/>
          <a:p>
            <a:pPr algn="l"/>
            <a:r>
              <a:rPr sz="850" b="0" i="0">
                <a:solidFill>
                  <a:srgbClr val="5F696E"/>
                </a:solidFill>
                <a:latin typeface="Aptos"/>
              </a:rPr>
              <a:t>Kharif / Rabi / Zaid</a:t>
            </a:r>
          </a:p>
        </p:txBody>
      </p:sp>
      <p:sp>
        <p:nvSpPr>
          <p:cNvPr id="44" name="Rounded Rectangle 43"/>
          <p:cNvSpPr/>
          <p:nvPr/>
        </p:nvSpPr>
        <p:spPr>
          <a:xfrm>
            <a:off x="8183879" y="4343400"/>
            <a:ext cx="3154680" cy="105156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93607" y="4434840"/>
            <a:ext cx="2935224" cy="256032"/>
          </a:xfrm>
          <a:prstGeom prst="rect">
            <a:avLst/>
          </a:prstGeom>
          <a:noFill/>
        </p:spPr>
        <p:txBody>
          <a:bodyPr wrap="none" lIns="54864" tIns="54864" rIns="54864" bIns="54864" anchor="t">
            <a:spAutoFit/>
          </a:bodyPr>
          <a:lstStyle/>
          <a:p>
            <a:pPr algn="l"/>
            <a:r>
              <a:rPr sz="1000" b="1" i="0">
                <a:solidFill>
                  <a:srgbClr val="465A64"/>
                </a:solidFill>
                <a:latin typeface="Aptos"/>
              </a:rPr>
              <a:t>Water efficiency</a:t>
            </a:r>
          </a:p>
        </p:txBody>
      </p:sp>
      <p:sp>
        <p:nvSpPr>
          <p:cNvPr id="46" name="TextBox 45"/>
          <p:cNvSpPr txBox="1"/>
          <p:nvPr/>
        </p:nvSpPr>
        <p:spPr>
          <a:xfrm>
            <a:off x="8293607" y="4700016"/>
            <a:ext cx="2935224" cy="438912"/>
          </a:xfrm>
          <a:prstGeom prst="rect">
            <a:avLst/>
          </a:prstGeom>
          <a:noFill/>
        </p:spPr>
        <p:txBody>
          <a:bodyPr wrap="none" lIns="54864" tIns="54864" rIns="54864" bIns="54864" anchor="t">
            <a:spAutoFit/>
          </a:bodyPr>
          <a:lstStyle/>
          <a:p>
            <a:pPr algn="l"/>
            <a:r>
              <a:rPr sz="2100" b="1" i="0">
                <a:solidFill>
                  <a:srgbClr val="146478"/>
                </a:solidFill>
                <a:latin typeface="Aptos"/>
              </a:rPr>
              <a:t>5.892 / 5.186 / 4.413</a:t>
            </a:r>
          </a:p>
        </p:txBody>
      </p:sp>
      <p:sp>
        <p:nvSpPr>
          <p:cNvPr id="47" name="TextBox 46"/>
          <p:cNvSpPr txBox="1"/>
          <p:nvPr/>
        </p:nvSpPr>
        <p:spPr>
          <a:xfrm>
            <a:off x="8293607" y="5065776"/>
            <a:ext cx="2935224" cy="228600"/>
          </a:xfrm>
          <a:prstGeom prst="rect">
            <a:avLst/>
          </a:prstGeom>
          <a:noFill/>
        </p:spPr>
        <p:txBody>
          <a:bodyPr wrap="none" lIns="54864" tIns="54864" rIns="54864" bIns="54864" anchor="t">
            <a:spAutoFit/>
          </a:bodyPr>
          <a:lstStyle/>
          <a:p>
            <a:pPr algn="l"/>
            <a:r>
              <a:rPr sz="850" b="0" i="0">
                <a:solidFill>
                  <a:srgbClr val="5F696E"/>
                </a:solidFill>
                <a:latin typeface="Aptos"/>
              </a:rPr>
              <a:t>Kharif / Rabi / Zaid</a:t>
            </a:r>
          </a:p>
        </p:txBody>
      </p:sp>
      <p:sp>
        <p:nvSpPr>
          <p:cNvPr id="48" name="TextBox 47"/>
          <p:cNvSpPr txBox="1"/>
          <p:nvPr/>
        </p:nvSpPr>
        <p:spPr>
          <a:xfrm>
            <a:off x="713232" y="5650992"/>
            <a:ext cx="10241280" cy="384048"/>
          </a:xfrm>
          <a:prstGeom prst="rect">
            <a:avLst/>
          </a:prstGeom>
          <a:noFill/>
        </p:spPr>
        <p:txBody>
          <a:bodyPr wrap="none" lIns="54864" tIns="54864" rIns="54864" bIns="54864" anchor="t">
            <a:spAutoFit/>
          </a:bodyPr>
          <a:lstStyle/>
          <a:p>
            <a:pPr algn="l"/>
            <a:r>
              <a:rPr sz="1300" b="1" i="0">
                <a:solidFill>
                  <a:srgbClr val="23505A"/>
                </a:solidFill>
                <a:latin typeface="Aptos"/>
              </a:rPr>
              <a:t>Kharif shows the highest mean yield, mean profit and water efficiency in the observed dataset.</a:t>
            </a:r>
          </a:p>
        </p:txBody>
      </p:sp>
      <p:sp>
        <p:nvSpPr>
          <p:cNvPr id="49" name="TextBox 48"/>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7</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RESULTS — CROP × SEASON PERFORMANCE</a:t>
            </a:r>
          </a:p>
        </p:txBody>
      </p:sp>
      <p:sp>
        <p:nvSpPr>
          <p:cNvPr id="32" name="TextBox 31"/>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pic>
        <p:nvPicPr>
          <p:cNvPr id="33" name="Picture 32" descr="nb_cell_50_0.png"/>
          <p:cNvPicPr>
            <a:picLocks noChangeAspect="1"/>
          </p:cNvPicPr>
          <p:nvPr/>
        </p:nvPicPr>
        <p:blipFill>
          <a:blip r:embed="rId3"/>
          <a:stretch>
            <a:fillRect/>
          </a:stretch>
        </p:blipFill>
        <p:spPr>
          <a:xfrm>
            <a:off x="502920" y="1097280"/>
            <a:ext cx="5486400" cy="3977639"/>
          </a:xfrm>
          <a:prstGeom prst="rect">
            <a:avLst/>
          </a:prstGeom>
        </p:spPr>
      </p:pic>
      <p:pic>
        <p:nvPicPr>
          <p:cNvPr id="34" name="Picture 33" descr="nb_cell_74_0.png"/>
          <p:cNvPicPr>
            <a:picLocks noChangeAspect="1"/>
          </p:cNvPicPr>
          <p:nvPr/>
        </p:nvPicPr>
        <p:blipFill>
          <a:blip r:embed="rId4"/>
          <a:stretch>
            <a:fillRect/>
          </a:stretch>
        </p:blipFill>
        <p:spPr>
          <a:xfrm>
            <a:off x="6172200" y="1097280"/>
            <a:ext cx="5074920" cy="3977639"/>
          </a:xfrm>
          <a:prstGeom prst="rect">
            <a:avLst/>
          </a:prstGeom>
        </p:spPr>
      </p:pic>
      <p:sp>
        <p:nvSpPr>
          <p:cNvPr id="35" name="TextBox 34"/>
          <p:cNvSpPr txBox="1"/>
          <p:nvPr/>
        </p:nvSpPr>
        <p:spPr>
          <a:xfrm>
            <a:off x="731520" y="5074920"/>
            <a:ext cx="2286000" cy="274320"/>
          </a:xfrm>
          <a:prstGeom prst="rect">
            <a:avLst/>
          </a:prstGeom>
          <a:noFill/>
        </p:spPr>
        <p:txBody>
          <a:bodyPr wrap="none" lIns="54864" tIns="54864" rIns="54864" bIns="54864" anchor="t">
            <a:spAutoFit/>
          </a:bodyPr>
          <a:lstStyle/>
          <a:p>
            <a:pPr algn="l"/>
            <a:r>
              <a:rPr sz="1200" b="1" i="0">
                <a:solidFill>
                  <a:srgbClr val="284650"/>
                </a:solidFill>
                <a:latin typeface="Aptos"/>
              </a:rPr>
              <a:t>Mean yield by crop</a:t>
            </a:r>
          </a:p>
        </p:txBody>
      </p:sp>
      <p:sp>
        <p:nvSpPr>
          <p:cNvPr id="36" name="TextBox 35"/>
          <p:cNvSpPr txBox="1"/>
          <p:nvPr/>
        </p:nvSpPr>
        <p:spPr>
          <a:xfrm>
            <a:off x="731520" y="5376672"/>
            <a:ext cx="10149840" cy="502920"/>
          </a:xfrm>
          <a:prstGeom prst="rect">
            <a:avLst/>
          </a:prstGeom>
          <a:noFill/>
        </p:spPr>
        <p:txBody>
          <a:bodyPr wrap="none" lIns="54864" tIns="54864" rIns="54864" bIns="54864" anchor="t">
            <a:spAutoFit/>
          </a:bodyPr>
          <a:lstStyle/>
          <a:p>
            <a:pPr algn="l"/>
            <a:r>
              <a:rPr sz="1200" b="0" i="0">
                <a:solidFill>
                  <a:srgbClr val="2D373C"/>
                </a:solidFill>
                <a:latin typeface="Aptos"/>
              </a:rPr>
              <a:t>Sugarcane 46.642 • Maize 2.710 • Rice 2.431 • Wheat 2.108 • Chilli 1.543 • Groundnut 1.323 • Cotton 1.230 • Pulses 0.922 tonnes/ha</a:t>
            </a:r>
          </a:p>
        </p:txBody>
      </p:sp>
      <p:sp>
        <p:nvSpPr>
          <p:cNvPr id="37" name="TextBox 36"/>
          <p:cNvSpPr txBox="1"/>
          <p:nvPr/>
        </p:nvSpPr>
        <p:spPr>
          <a:xfrm>
            <a:off x="731520" y="5916168"/>
            <a:ext cx="10149840" cy="384048"/>
          </a:xfrm>
          <a:prstGeom prst="rect">
            <a:avLst/>
          </a:prstGeom>
          <a:noFill/>
        </p:spPr>
        <p:txBody>
          <a:bodyPr wrap="none" lIns="54864" tIns="54864" rIns="54864" bIns="54864" anchor="t">
            <a:spAutoFit/>
          </a:bodyPr>
          <a:lstStyle/>
          <a:p>
            <a:pPr algn="l"/>
            <a:r>
              <a:rPr sz="1250" b="1" i="0">
                <a:solidFill>
                  <a:srgbClr val="23505A"/>
                </a:solidFill>
                <a:latin typeface="Aptos"/>
              </a:rPr>
              <a:t>Crop-wise ANOVA and Kruskal-Wallis tests both found statistically significant yield differences (p &lt; 0.05).</a:t>
            </a:r>
          </a:p>
        </p:txBody>
      </p:sp>
      <p:sp>
        <p:nvSpPr>
          <p:cNvPr id="38" name="TextBox 37"/>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8</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RESULTS — CORRELATION &amp; STATISTICAL TESTING</a:t>
            </a:r>
          </a:p>
        </p:txBody>
      </p:sp>
      <p:sp>
        <p:nvSpPr>
          <p:cNvPr id="32" name="TextBox 31"/>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pic>
        <p:nvPicPr>
          <p:cNvPr id="33" name="Picture 32" descr="nb_cell_57_0.png"/>
          <p:cNvPicPr>
            <a:picLocks noChangeAspect="1"/>
          </p:cNvPicPr>
          <p:nvPr/>
        </p:nvPicPr>
        <p:blipFill>
          <a:blip r:embed="rId3"/>
          <a:stretch>
            <a:fillRect/>
          </a:stretch>
        </p:blipFill>
        <p:spPr>
          <a:xfrm>
            <a:off x="502920" y="1078992"/>
            <a:ext cx="5623560" cy="4160520"/>
          </a:xfrm>
          <a:prstGeom prst="rect">
            <a:avLst/>
          </a:prstGeom>
        </p:spPr>
      </p:pic>
      <p:sp>
        <p:nvSpPr>
          <p:cNvPr id="34" name="Rounded Rectangle 33"/>
          <p:cNvSpPr/>
          <p:nvPr/>
        </p:nvSpPr>
        <p:spPr>
          <a:xfrm>
            <a:off x="6446520" y="1234440"/>
            <a:ext cx="2240280" cy="107899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56248" y="1325880"/>
            <a:ext cx="2020824" cy="256032"/>
          </a:xfrm>
          <a:prstGeom prst="rect">
            <a:avLst/>
          </a:prstGeom>
          <a:noFill/>
        </p:spPr>
        <p:txBody>
          <a:bodyPr wrap="none" lIns="54864" tIns="54864" rIns="54864" bIns="54864" anchor="t">
            <a:spAutoFit/>
          </a:bodyPr>
          <a:lstStyle/>
          <a:p>
            <a:pPr algn="l"/>
            <a:r>
              <a:rPr sz="1000" b="1" i="0">
                <a:solidFill>
                  <a:srgbClr val="465A64"/>
                </a:solidFill>
                <a:latin typeface="Aptos"/>
              </a:rPr>
              <a:t>Water efficiency ↔ Yield</a:t>
            </a:r>
          </a:p>
        </p:txBody>
      </p:sp>
      <p:sp>
        <p:nvSpPr>
          <p:cNvPr id="36" name="TextBox 35"/>
          <p:cNvSpPr txBox="1"/>
          <p:nvPr/>
        </p:nvSpPr>
        <p:spPr>
          <a:xfrm>
            <a:off x="6556248" y="1591056"/>
            <a:ext cx="2020824" cy="438912"/>
          </a:xfrm>
          <a:prstGeom prst="rect">
            <a:avLst/>
          </a:prstGeom>
          <a:noFill/>
        </p:spPr>
        <p:txBody>
          <a:bodyPr wrap="none" lIns="54864" tIns="54864" rIns="54864" bIns="54864" anchor="t">
            <a:spAutoFit/>
          </a:bodyPr>
          <a:lstStyle/>
          <a:p>
            <a:pPr algn="l"/>
            <a:r>
              <a:rPr sz="2100" b="1" i="0">
                <a:solidFill>
                  <a:srgbClr val="146478"/>
                </a:solidFill>
                <a:latin typeface="Aptos"/>
              </a:rPr>
              <a:t>r = 0.913</a:t>
            </a:r>
          </a:p>
        </p:txBody>
      </p:sp>
      <p:sp>
        <p:nvSpPr>
          <p:cNvPr id="37" name="TextBox 36"/>
          <p:cNvSpPr txBox="1"/>
          <p:nvPr/>
        </p:nvSpPr>
        <p:spPr>
          <a:xfrm>
            <a:off x="6556248" y="1984248"/>
            <a:ext cx="2020824" cy="228600"/>
          </a:xfrm>
          <a:prstGeom prst="rect">
            <a:avLst/>
          </a:prstGeom>
          <a:noFill/>
        </p:spPr>
        <p:txBody>
          <a:bodyPr wrap="none" lIns="54864" tIns="54864" rIns="54864" bIns="54864" anchor="t">
            <a:spAutoFit/>
          </a:bodyPr>
          <a:lstStyle/>
          <a:p>
            <a:pPr algn="l"/>
            <a:r>
              <a:rPr sz="850" b="0" i="0">
                <a:solidFill>
                  <a:srgbClr val="5F696E"/>
                </a:solidFill>
                <a:latin typeface="Aptos"/>
              </a:rPr>
              <a:t>strong positive</a:t>
            </a:r>
          </a:p>
        </p:txBody>
      </p:sp>
      <p:sp>
        <p:nvSpPr>
          <p:cNvPr id="38" name="Rounded Rectangle 37"/>
          <p:cNvSpPr/>
          <p:nvPr/>
        </p:nvSpPr>
        <p:spPr>
          <a:xfrm>
            <a:off x="8961120" y="1234440"/>
            <a:ext cx="2240280" cy="107899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70848" y="1325880"/>
            <a:ext cx="2020824" cy="256032"/>
          </a:xfrm>
          <a:prstGeom prst="rect">
            <a:avLst/>
          </a:prstGeom>
          <a:noFill/>
        </p:spPr>
        <p:txBody>
          <a:bodyPr wrap="none" lIns="54864" tIns="54864" rIns="54864" bIns="54864" anchor="t">
            <a:spAutoFit/>
          </a:bodyPr>
          <a:lstStyle/>
          <a:p>
            <a:pPr algn="l"/>
            <a:r>
              <a:rPr sz="1000" b="1" i="0">
                <a:solidFill>
                  <a:srgbClr val="465A64"/>
                </a:solidFill>
                <a:latin typeface="Aptos"/>
              </a:rPr>
              <a:t>Yield ↔ Profit</a:t>
            </a:r>
          </a:p>
        </p:txBody>
      </p:sp>
      <p:sp>
        <p:nvSpPr>
          <p:cNvPr id="40" name="TextBox 39"/>
          <p:cNvSpPr txBox="1"/>
          <p:nvPr/>
        </p:nvSpPr>
        <p:spPr>
          <a:xfrm>
            <a:off x="9070848" y="1591056"/>
            <a:ext cx="2020824" cy="438912"/>
          </a:xfrm>
          <a:prstGeom prst="rect">
            <a:avLst/>
          </a:prstGeom>
          <a:noFill/>
        </p:spPr>
        <p:txBody>
          <a:bodyPr wrap="none" lIns="54864" tIns="54864" rIns="54864" bIns="54864" anchor="t">
            <a:spAutoFit/>
          </a:bodyPr>
          <a:lstStyle/>
          <a:p>
            <a:pPr algn="l"/>
            <a:r>
              <a:rPr sz="2100" b="1" i="0">
                <a:solidFill>
                  <a:srgbClr val="146478"/>
                </a:solidFill>
                <a:latin typeface="Aptos"/>
              </a:rPr>
              <a:t>r = 0.488</a:t>
            </a:r>
          </a:p>
        </p:txBody>
      </p:sp>
      <p:sp>
        <p:nvSpPr>
          <p:cNvPr id="41" name="TextBox 40"/>
          <p:cNvSpPr txBox="1"/>
          <p:nvPr/>
        </p:nvSpPr>
        <p:spPr>
          <a:xfrm>
            <a:off x="9070848" y="1984248"/>
            <a:ext cx="2020824" cy="228600"/>
          </a:xfrm>
          <a:prstGeom prst="rect">
            <a:avLst/>
          </a:prstGeom>
          <a:noFill/>
        </p:spPr>
        <p:txBody>
          <a:bodyPr wrap="none" lIns="54864" tIns="54864" rIns="54864" bIns="54864" anchor="t">
            <a:spAutoFit/>
          </a:bodyPr>
          <a:lstStyle/>
          <a:p>
            <a:pPr algn="l"/>
            <a:r>
              <a:rPr sz="850" b="0" i="0">
                <a:solidFill>
                  <a:srgbClr val="5F696E"/>
                </a:solidFill>
                <a:latin typeface="Aptos"/>
              </a:rPr>
              <a:t>positive</a:t>
            </a:r>
          </a:p>
        </p:txBody>
      </p:sp>
      <p:sp>
        <p:nvSpPr>
          <p:cNvPr id="42" name="Rounded Rectangle 41"/>
          <p:cNvSpPr/>
          <p:nvPr/>
        </p:nvSpPr>
        <p:spPr>
          <a:xfrm>
            <a:off x="6446520" y="2514600"/>
            <a:ext cx="2240280" cy="107899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56248" y="2606040"/>
            <a:ext cx="2020824" cy="256032"/>
          </a:xfrm>
          <a:prstGeom prst="rect">
            <a:avLst/>
          </a:prstGeom>
          <a:noFill/>
        </p:spPr>
        <p:txBody>
          <a:bodyPr wrap="none" lIns="54864" tIns="54864" rIns="54864" bIns="54864" anchor="t">
            <a:spAutoFit/>
          </a:bodyPr>
          <a:lstStyle/>
          <a:p>
            <a:pPr algn="l"/>
            <a:r>
              <a:rPr sz="1000" b="1" i="0">
                <a:solidFill>
                  <a:srgbClr val="465A64"/>
                </a:solidFill>
                <a:latin typeface="Aptos"/>
              </a:rPr>
              <a:t>Water used ↔ Yield</a:t>
            </a:r>
          </a:p>
        </p:txBody>
      </p:sp>
      <p:sp>
        <p:nvSpPr>
          <p:cNvPr id="44" name="TextBox 43"/>
          <p:cNvSpPr txBox="1"/>
          <p:nvPr/>
        </p:nvSpPr>
        <p:spPr>
          <a:xfrm>
            <a:off x="6556248" y="2871216"/>
            <a:ext cx="2020824" cy="438912"/>
          </a:xfrm>
          <a:prstGeom prst="rect">
            <a:avLst/>
          </a:prstGeom>
          <a:noFill/>
        </p:spPr>
        <p:txBody>
          <a:bodyPr wrap="none" lIns="54864" tIns="54864" rIns="54864" bIns="54864" anchor="t">
            <a:spAutoFit/>
          </a:bodyPr>
          <a:lstStyle/>
          <a:p>
            <a:pPr algn="l"/>
            <a:r>
              <a:rPr sz="2100" b="1" i="0">
                <a:solidFill>
                  <a:srgbClr val="146478"/>
                </a:solidFill>
                <a:latin typeface="Aptos"/>
              </a:rPr>
              <a:t>r = 0.386</a:t>
            </a:r>
          </a:p>
        </p:txBody>
      </p:sp>
      <p:sp>
        <p:nvSpPr>
          <p:cNvPr id="45" name="TextBox 44"/>
          <p:cNvSpPr txBox="1"/>
          <p:nvPr/>
        </p:nvSpPr>
        <p:spPr>
          <a:xfrm>
            <a:off x="6556248" y="3264408"/>
            <a:ext cx="2020824" cy="228600"/>
          </a:xfrm>
          <a:prstGeom prst="rect">
            <a:avLst/>
          </a:prstGeom>
          <a:noFill/>
        </p:spPr>
        <p:txBody>
          <a:bodyPr wrap="none" lIns="54864" tIns="54864" rIns="54864" bIns="54864" anchor="t">
            <a:spAutoFit/>
          </a:bodyPr>
          <a:lstStyle/>
          <a:p>
            <a:pPr algn="l"/>
            <a:r>
              <a:rPr sz="850" b="0" i="0">
                <a:solidFill>
                  <a:srgbClr val="5F696E"/>
                </a:solidFill>
                <a:latin typeface="Aptos"/>
              </a:rPr>
              <a:t>moderate positive</a:t>
            </a:r>
          </a:p>
        </p:txBody>
      </p:sp>
      <p:sp>
        <p:nvSpPr>
          <p:cNvPr id="46" name="Rounded Rectangle 45"/>
          <p:cNvSpPr/>
          <p:nvPr/>
        </p:nvSpPr>
        <p:spPr>
          <a:xfrm>
            <a:off x="8961120" y="2514600"/>
            <a:ext cx="2240280" cy="1078992"/>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070848" y="2606040"/>
            <a:ext cx="2020824" cy="256032"/>
          </a:xfrm>
          <a:prstGeom prst="rect">
            <a:avLst/>
          </a:prstGeom>
          <a:noFill/>
        </p:spPr>
        <p:txBody>
          <a:bodyPr wrap="none" lIns="54864" tIns="54864" rIns="54864" bIns="54864" anchor="t">
            <a:spAutoFit/>
          </a:bodyPr>
          <a:lstStyle/>
          <a:p>
            <a:pPr algn="l"/>
            <a:r>
              <a:rPr sz="1000" b="1" i="0">
                <a:solidFill>
                  <a:srgbClr val="465A64"/>
                </a:solidFill>
                <a:latin typeface="Aptos"/>
              </a:rPr>
              <a:t>Water efficiency ↔ Profit</a:t>
            </a:r>
          </a:p>
        </p:txBody>
      </p:sp>
      <p:sp>
        <p:nvSpPr>
          <p:cNvPr id="48" name="TextBox 47"/>
          <p:cNvSpPr txBox="1"/>
          <p:nvPr/>
        </p:nvSpPr>
        <p:spPr>
          <a:xfrm>
            <a:off x="9070848" y="2871216"/>
            <a:ext cx="2020824" cy="438912"/>
          </a:xfrm>
          <a:prstGeom prst="rect">
            <a:avLst/>
          </a:prstGeom>
          <a:noFill/>
        </p:spPr>
        <p:txBody>
          <a:bodyPr wrap="none" lIns="54864" tIns="54864" rIns="54864" bIns="54864" anchor="t">
            <a:spAutoFit/>
          </a:bodyPr>
          <a:lstStyle/>
          <a:p>
            <a:pPr algn="l"/>
            <a:r>
              <a:rPr sz="2100" b="1" i="0">
                <a:solidFill>
                  <a:srgbClr val="146478"/>
                </a:solidFill>
                <a:latin typeface="Aptos"/>
              </a:rPr>
              <a:t>r = 0.489</a:t>
            </a:r>
          </a:p>
        </p:txBody>
      </p:sp>
      <p:sp>
        <p:nvSpPr>
          <p:cNvPr id="49" name="TextBox 48"/>
          <p:cNvSpPr txBox="1"/>
          <p:nvPr/>
        </p:nvSpPr>
        <p:spPr>
          <a:xfrm>
            <a:off x="9070848" y="3264408"/>
            <a:ext cx="2020824" cy="228600"/>
          </a:xfrm>
          <a:prstGeom prst="rect">
            <a:avLst/>
          </a:prstGeom>
          <a:noFill/>
        </p:spPr>
        <p:txBody>
          <a:bodyPr wrap="none" lIns="54864" tIns="54864" rIns="54864" bIns="54864" anchor="t">
            <a:spAutoFit/>
          </a:bodyPr>
          <a:lstStyle/>
          <a:p>
            <a:pPr algn="l"/>
            <a:r>
              <a:rPr sz="850" b="0" i="0">
                <a:solidFill>
                  <a:srgbClr val="5F696E"/>
                </a:solidFill>
                <a:latin typeface="Aptos"/>
              </a:rPr>
              <a:t>positive</a:t>
            </a:r>
          </a:p>
        </p:txBody>
      </p:sp>
      <p:sp>
        <p:nvSpPr>
          <p:cNvPr id="50" name="TextBox 49"/>
          <p:cNvSpPr txBox="1"/>
          <p:nvPr/>
        </p:nvSpPr>
        <p:spPr>
          <a:xfrm>
            <a:off x="6446520" y="3886200"/>
            <a:ext cx="1828800" cy="320040"/>
          </a:xfrm>
          <a:prstGeom prst="rect">
            <a:avLst/>
          </a:prstGeom>
          <a:noFill/>
        </p:spPr>
        <p:txBody>
          <a:bodyPr wrap="none" lIns="54864" tIns="54864" rIns="54864" bIns="54864" anchor="t">
            <a:spAutoFit/>
          </a:bodyPr>
          <a:lstStyle/>
          <a:p>
            <a:pPr algn="l"/>
            <a:r>
              <a:rPr sz="1300" b="1" i="0">
                <a:solidFill>
                  <a:srgbClr val="23414B"/>
                </a:solidFill>
                <a:latin typeface="Aptos"/>
              </a:rPr>
              <a:t>Seasonal tests</a:t>
            </a:r>
          </a:p>
        </p:txBody>
      </p:sp>
      <p:sp>
        <p:nvSpPr>
          <p:cNvPr id="51" name="TextBox 50"/>
          <p:cNvSpPr txBox="1"/>
          <p:nvPr/>
        </p:nvSpPr>
        <p:spPr>
          <a:xfrm>
            <a:off x="6446520" y="4251960"/>
            <a:ext cx="4645152" cy="972574"/>
          </a:xfrm>
          <a:prstGeom prst="rect">
            <a:avLst/>
          </a:prstGeom>
          <a:solidFill>
            <a:schemeClr val="accent1">
              <a:lumMod val="40000"/>
              <a:lumOff val="60000"/>
            </a:schemeClr>
          </a:solidFill>
        </p:spPr>
        <p:txBody>
          <a:bodyPr wrap="square" lIns="54864" tIns="54864" rIns="54864" bIns="54864" anchor="t">
            <a:spAutoFit/>
          </a:bodyPr>
          <a:lstStyle/>
          <a:p>
            <a:pPr algn="l"/>
            <a:r>
              <a:rPr sz="1400" b="0" i="0" dirty="0">
                <a:solidFill>
                  <a:srgbClr val="2D3237"/>
                </a:solidFill>
                <a:latin typeface="Aptos"/>
              </a:rPr>
              <a:t>ANOVA: F = 1.5439, p = 0.2137 → not significant for seasonal means.
Kruskal-Wallis: H = 68.7131, p ≈ 1.20×10⁻¹⁵ → significant seasonal distributions.</a:t>
            </a:r>
          </a:p>
        </p:txBody>
      </p:sp>
      <p:sp>
        <p:nvSpPr>
          <p:cNvPr id="52" name="TextBox 51"/>
          <p:cNvSpPr txBox="1"/>
          <p:nvPr/>
        </p:nvSpPr>
        <p:spPr>
          <a:xfrm>
            <a:off x="3657600" y="5649248"/>
            <a:ext cx="4361688" cy="495520"/>
          </a:xfrm>
          <a:prstGeom prst="rect">
            <a:avLst/>
          </a:prstGeom>
          <a:noFill/>
        </p:spPr>
        <p:txBody>
          <a:bodyPr wrap="square" lIns="54864" tIns="54864" rIns="54864" bIns="54864" anchor="t">
            <a:spAutoFit/>
          </a:bodyPr>
          <a:lstStyle/>
          <a:p>
            <a:pPr algn="l"/>
            <a:r>
              <a:rPr sz="1250" b="1" i="0" dirty="0">
                <a:solidFill>
                  <a:srgbClr val="23505A"/>
                </a:solidFill>
                <a:latin typeface="Aptos"/>
              </a:rPr>
              <a:t>Interpretation: seasonal differences are detectable under the non-parametric rank-based test.</a:t>
            </a:r>
          </a:p>
        </p:txBody>
      </p:sp>
      <p:sp>
        <p:nvSpPr>
          <p:cNvPr id="53" name="TextBox 52"/>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9</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RESULTS — REGRESSION MODEL</a:t>
            </a:r>
          </a:p>
        </p:txBody>
      </p:sp>
      <p:sp>
        <p:nvSpPr>
          <p:cNvPr id="32" name="TextBox 31"/>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pic>
        <p:nvPicPr>
          <p:cNvPr id="33" name="Picture 32" descr="nb_cell_95_0.png"/>
          <p:cNvPicPr>
            <a:picLocks noChangeAspect="1"/>
          </p:cNvPicPr>
          <p:nvPr/>
        </p:nvPicPr>
        <p:blipFill>
          <a:blip r:embed="rId3"/>
          <a:stretch>
            <a:fillRect/>
          </a:stretch>
        </p:blipFill>
        <p:spPr>
          <a:xfrm>
            <a:off x="502920" y="1078992"/>
            <a:ext cx="3657600" cy="3154680"/>
          </a:xfrm>
          <a:prstGeom prst="rect">
            <a:avLst/>
          </a:prstGeom>
        </p:spPr>
      </p:pic>
      <p:pic>
        <p:nvPicPr>
          <p:cNvPr id="34" name="Picture 33" descr="nb_cell_103_0.png"/>
          <p:cNvPicPr>
            <a:picLocks noChangeAspect="1"/>
          </p:cNvPicPr>
          <p:nvPr/>
        </p:nvPicPr>
        <p:blipFill>
          <a:blip r:embed="rId4"/>
          <a:stretch>
            <a:fillRect/>
          </a:stretch>
        </p:blipFill>
        <p:spPr>
          <a:xfrm>
            <a:off x="4251960" y="1078992"/>
            <a:ext cx="3474720" cy="3154680"/>
          </a:xfrm>
          <a:prstGeom prst="rect">
            <a:avLst/>
          </a:prstGeom>
        </p:spPr>
      </p:pic>
      <p:pic>
        <p:nvPicPr>
          <p:cNvPr id="35" name="Picture 34" descr="nb_cell_99_0.png"/>
          <p:cNvPicPr>
            <a:picLocks noChangeAspect="1"/>
          </p:cNvPicPr>
          <p:nvPr/>
        </p:nvPicPr>
        <p:blipFill>
          <a:blip r:embed="rId5"/>
          <a:stretch>
            <a:fillRect/>
          </a:stretch>
        </p:blipFill>
        <p:spPr>
          <a:xfrm>
            <a:off x="7818120" y="1078992"/>
            <a:ext cx="3429000" cy="3154680"/>
          </a:xfrm>
          <a:prstGeom prst="rect">
            <a:avLst/>
          </a:prstGeom>
        </p:spPr>
      </p:pic>
      <p:sp>
        <p:nvSpPr>
          <p:cNvPr id="36" name="Rounded Rectangle 35"/>
          <p:cNvSpPr/>
          <p:nvPr/>
        </p:nvSpPr>
        <p:spPr>
          <a:xfrm>
            <a:off x="640080" y="4434840"/>
            <a:ext cx="2057400" cy="96012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9808" y="4526279"/>
            <a:ext cx="1837943" cy="256032"/>
          </a:xfrm>
          <a:prstGeom prst="rect">
            <a:avLst/>
          </a:prstGeom>
          <a:noFill/>
        </p:spPr>
        <p:txBody>
          <a:bodyPr wrap="none" lIns="54864" tIns="54864" rIns="54864" bIns="54864" anchor="t">
            <a:spAutoFit/>
          </a:bodyPr>
          <a:lstStyle/>
          <a:p>
            <a:pPr algn="l"/>
            <a:r>
              <a:rPr sz="1000" b="1" i="0">
                <a:solidFill>
                  <a:srgbClr val="465A64"/>
                </a:solidFill>
                <a:latin typeface="Aptos"/>
              </a:rPr>
              <a:t>R²</a:t>
            </a:r>
          </a:p>
        </p:txBody>
      </p:sp>
      <p:sp>
        <p:nvSpPr>
          <p:cNvPr id="38" name="TextBox 37"/>
          <p:cNvSpPr txBox="1"/>
          <p:nvPr/>
        </p:nvSpPr>
        <p:spPr>
          <a:xfrm>
            <a:off x="749808" y="4791455"/>
            <a:ext cx="1837943" cy="438912"/>
          </a:xfrm>
          <a:prstGeom prst="rect">
            <a:avLst/>
          </a:prstGeom>
          <a:noFill/>
        </p:spPr>
        <p:txBody>
          <a:bodyPr wrap="none" lIns="54864" tIns="54864" rIns="54864" bIns="54864" anchor="t">
            <a:spAutoFit/>
          </a:bodyPr>
          <a:lstStyle/>
          <a:p>
            <a:pPr algn="l"/>
            <a:r>
              <a:rPr sz="2100" b="1" i="0">
                <a:solidFill>
                  <a:srgbClr val="146478"/>
                </a:solidFill>
                <a:latin typeface="Aptos"/>
              </a:rPr>
              <a:t>0.8796</a:t>
            </a:r>
          </a:p>
        </p:txBody>
      </p:sp>
      <p:sp>
        <p:nvSpPr>
          <p:cNvPr id="39" name="TextBox 38"/>
          <p:cNvSpPr txBox="1"/>
          <p:nvPr/>
        </p:nvSpPr>
        <p:spPr>
          <a:xfrm>
            <a:off x="749808" y="5065775"/>
            <a:ext cx="1837943" cy="228600"/>
          </a:xfrm>
          <a:prstGeom prst="rect">
            <a:avLst/>
          </a:prstGeom>
          <a:noFill/>
        </p:spPr>
        <p:txBody>
          <a:bodyPr wrap="none" lIns="54864" tIns="54864" rIns="54864" bIns="54864" anchor="t">
            <a:spAutoFit/>
          </a:bodyPr>
          <a:lstStyle/>
          <a:p>
            <a:pPr algn="l"/>
            <a:r>
              <a:rPr sz="850" b="0" i="0">
                <a:solidFill>
                  <a:srgbClr val="5F696E"/>
                </a:solidFill>
                <a:latin typeface="Aptos"/>
              </a:rPr>
              <a:t>strong explanatory power</a:t>
            </a:r>
          </a:p>
        </p:txBody>
      </p:sp>
      <p:sp>
        <p:nvSpPr>
          <p:cNvPr id="40" name="Rounded Rectangle 39"/>
          <p:cNvSpPr/>
          <p:nvPr/>
        </p:nvSpPr>
        <p:spPr>
          <a:xfrm>
            <a:off x="2880360" y="4434840"/>
            <a:ext cx="2057400" cy="96012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90088" y="4526279"/>
            <a:ext cx="1837943" cy="256032"/>
          </a:xfrm>
          <a:prstGeom prst="rect">
            <a:avLst/>
          </a:prstGeom>
          <a:noFill/>
        </p:spPr>
        <p:txBody>
          <a:bodyPr wrap="none" lIns="54864" tIns="54864" rIns="54864" bIns="54864" anchor="t">
            <a:spAutoFit/>
          </a:bodyPr>
          <a:lstStyle/>
          <a:p>
            <a:pPr algn="l"/>
            <a:r>
              <a:rPr sz="1000" b="1" i="0">
                <a:solidFill>
                  <a:srgbClr val="465A64"/>
                </a:solidFill>
                <a:latin typeface="Aptos"/>
              </a:rPr>
              <a:t>Adjusted R²</a:t>
            </a:r>
          </a:p>
        </p:txBody>
      </p:sp>
      <p:sp>
        <p:nvSpPr>
          <p:cNvPr id="42" name="TextBox 41"/>
          <p:cNvSpPr txBox="1"/>
          <p:nvPr/>
        </p:nvSpPr>
        <p:spPr>
          <a:xfrm>
            <a:off x="2990088" y="4791455"/>
            <a:ext cx="1837943" cy="438912"/>
          </a:xfrm>
          <a:prstGeom prst="rect">
            <a:avLst/>
          </a:prstGeom>
          <a:noFill/>
        </p:spPr>
        <p:txBody>
          <a:bodyPr wrap="none" lIns="54864" tIns="54864" rIns="54864" bIns="54864" anchor="t">
            <a:spAutoFit/>
          </a:bodyPr>
          <a:lstStyle/>
          <a:p>
            <a:pPr algn="l"/>
            <a:r>
              <a:rPr sz="2100" b="1" i="0">
                <a:solidFill>
                  <a:srgbClr val="146478"/>
                </a:solidFill>
                <a:latin typeface="Aptos"/>
              </a:rPr>
              <a:t>0.8785</a:t>
            </a:r>
          </a:p>
        </p:txBody>
      </p:sp>
      <p:sp>
        <p:nvSpPr>
          <p:cNvPr id="43" name="TextBox 42"/>
          <p:cNvSpPr txBox="1"/>
          <p:nvPr/>
        </p:nvSpPr>
        <p:spPr>
          <a:xfrm>
            <a:off x="2990088" y="5065775"/>
            <a:ext cx="1837943" cy="228600"/>
          </a:xfrm>
          <a:prstGeom prst="rect">
            <a:avLst/>
          </a:prstGeom>
          <a:noFill/>
        </p:spPr>
        <p:txBody>
          <a:bodyPr wrap="none" lIns="54864" tIns="54864" rIns="54864" bIns="54864" anchor="t">
            <a:spAutoFit/>
          </a:bodyPr>
          <a:lstStyle/>
          <a:p>
            <a:pPr algn="l"/>
            <a:r>
              <a:rPr sz="850" b="0" i="0">
                <a:solidFill>
                  <a:srgbClr val="5F696E"/>
                </a:solidFill>
                <a:latin typeface="Aptos"/>
              </a:rPr>
              <a:t>7 predictors</a:t>
            </a:r>
          </a:p>
        </p:txBody>
      </p:sp>
      <p:sp>
        <p:nvSpPr>
          <p:cNvPr id="44" name="Rounded Rectangle 43"/>
          <p:cNvSpPr/>
          <p:nvPr/>
        </p:nvSpPr>
        <p:spPr>
          <a:xfrm>
            <a:off x="5120640" y="4434840"/>
            <a:ext cx="2057400" cy="96012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30368" y="4526279"/>
            <a:ext cx="1837943" cy="256032"/>
          </a:xfrm>
          <a:prstGeom prst="rect">
            <a:avLst/>
          </a:prstGeom>
          <a:noFill/>
        </p:spPr>
        <p:txBody>
          <a:bodyPr wrap="none" lIns="54864" tIns="54864" rIns="54864" bIns="54864" anchor="t">
            <a:spAutoFit/>
          </a:bodyPr>
          <a:lstStyle/>
          <a:p>
            <a:pPr algn="l"/>
            <a:r>
              <a:rPr sz="1000" b="1" i="0">
                <a:solidFill>
                  <a:srgbClr val="465A64"/>
                </a:solidFill>
                <a:latin typeface="Aptos"/>
              </a:rPr>
              <a:t>MAE</a:t>
            </a:r>
          </a:p>
        </p:txBody>
      </p:sp>
      <p:sp>
        <p:nvSpPr>
          <p:cNvPr id="46" name="TextBox 45"/>
          <p:cNvSpPr txBox="1"/>
          <p:nvPr/>
        </p:nvSpPr>
        <p:spPr>
          <a:xfrm>
            <a:off x="5230368" y="4791455"/>
            <a:ext cx="1837943" cy="438912"/>
          </a:xfrm>
          <a:prstGeom prst="rect">
            <a:avLst/>
          </a:prstGeom>
          <a:noFill/>
        </p:spPr>
        <p:txBody>
          <a:bodyPr wrap="none" lIns="54864" tIns="54864" rIns="54864" bIns="54864" anchor="t">
            <a:spAutoFit/>
          </a:bodyPr>
          <a:lstStyle/>
          <a:p>
            <a:pPr algn="l"/>
            <a:r>
              <a:rPr sz="2100" b="1" i="0">
                <a:solidFill>
                  <a:srgbClr val="146478"/>
                </a:solidFill>
                <a:latin typeface="Aptos"/>
              </a:rPr>
              <a:t>2.8046</a:t>
            </a:r>
          </a:p>
        </p:txBody>
      </p:sp>
      <p:sp>
        <p:nvSpPr>
          <p:cNvPr id="47" name="TextBox 46"/>
          <p:cNvSpPr txBox="1"/>
          <p:nvPr/>
        </p:nvSpPr>
        <p:spPr>
          <a:xfrm>
            <a:off x="5230368" y="5065775"/>
            <a:ext cx="1837943" cy="228600"/>
          </a:xfrm>
          <a:prstGeom prst="rect">
            <a:avLst/>
          </a:prstGeom>
          <a:noFill/>
        </p:spPr>
        <p:txBody>
          <a:bodyPr wrap="none" lIns="54864" tIns="54864" rIns="54864" bIns="54864" anchor="t">
            <a:spAutoFit/>
          </a:bodyPr>
          <a:lstStyle/>
          <a:p>
            <a:pPr algn="l"/>
            <a:r>
              <a:rPr sz="850" b="0" i="0">
                <a:solidFill>
                  <a:srgbClr val="5F696E"/>
                </a:solidFill>
                <a:latin typeface="Aptos"/>
              </a:rPr>
              <a:t>tonnes/ha</a:t>
            </a:r>
          </a:p>
        </p:txBody>
      </p:sp>
      <p:sp>
        <p:nvSpPr>
          <p:cNvPr id="48" name="Rounded Rectangle 47"/>
          <p:cNvSpPr/>
          <p:nvPr/>
        </p:nvSpPr>
        <p:spPr>
          <a:xfrm>
            <a:off x="7360920" y="4434840"/>
            <a:ext cx="2057400" cy="96012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70648" y="4526279"/>
            <a:ext cx="1837943" cy="256032"/>
          </a:xfrm>
          <a:prstGeom prst="rect">
            <a:avLst/>
          </a:prstGeom>
          <a:noFill/>
        </p:spPr>
        <p:txBody>
          <a:bodyPr wrap="none" lIns="54864" tIns="54864" rIns="54864" bIns="54864" anchor="t">
            <a:spAutoFit/>
          </a:bodyPr>
          <a:lstStyle/>
          <a:p>
            <a:pPr algn="l"/>
            <a:r>
              <a:rPr sz="1000" b="1" i="0">
                <a:solidFill>
                  <a:srgbClr val="465A64"/>
                </a:solidFill>
                <a:latin typeface="Aptos"/>
              </a:rPr>
              <a:t>RMSE</a:t>
            </a:r>
          </a:p>
        </p:txBody>
      </p:sp>
      <p:sp>
        <p:nvSpPr>
          <p:cNvPr id="50" name="TextBox 49"/>
          <p:cNvSpPr txBox="1"/>
          <p:nvPr/>
        </p:nvSpPr>
        <p:spPr>
          <a:xfrm>
            <a:off x="7470648" y="4791455"/>
            <a:ext cx="1837943" cy="438912"/>
          </a:xfrm>
          <a:prstGeom prst="rect">
            <a:avLst/>
          </a:prstGeom>
          <a:noFill/>
        </p:spPr>
        <p:txBody>
          <a:bodyPr wrap="none" lIns="54864" tIns="54864" rIns="54864" bIns="54864" anchor="t">
            <a:spAutoFit/>
          </a:bodyPr>
          <a:lstStyle/>
          <a:p>
            <a:pPr algn="l"/>
            <a:r>
              <a:rPr sz="2100" b="1" i="0">
                <a:solidFill>
                  <a:srgbClr val="146478"/>
                </a:solidFill>
                <a:latin typeface="Aptos"/>
              </a:rPr>
              <a:t>4.8179</a:t>
            </a:r>
          </a:p>
        </p:txBody>
      </p:sp>
      <p:sp>
        <p:nvSpPr>
          <p:cNvPr id="51" name="TextBox 50"/>
          <p:cNvSpPr txBox="1"/>
          <p:nvPr/>
        </p:nvSpPr>
        <p:spPr>
          <a:xfrm>
            <a:off x="7470648" y="5065775"/>
            <a:ext cx="1837943" cy="228600"/>
          </a:xfrm>
          <a:prstGeom prst="rect">
            <a:avLst/>
          </a:prstGeom>
          <a:noFill/>
        </p:spPr>
        <p:txBody>
          <a:bodyPr wrap="none" lIns="54864" tIns="54864" rIns="54864" bIns="54864" anchor="t">
            <a:spAutoFit/>
          </a:bodyPr>
          <a:lstStyle/>
          <a:p>
            <a:pPr algn="l"/>
            <a:r>
              <a:rPr sz="850" b="0" i="0">
                <a:solidFill>
                  <a:srgbClr val="5F696E"/>
                </a:solidFill>
                <a:latin typeface="Aptos"/>
              </a:rPr>
              <a:t>tonnes/ha</a:t>
            </a:r>
          </a:p>
        </p:txBody>
      </p:sp>
      <p:sp>
        <p:nvSpPr>
          <p:cNvPr id="52" name="Rounded Rectangle 51"/>
          <p:cNvSpPr/>
          <p:nvPr/>
        </p:nvSpPr>
        <p:spPr>
          <a:xfrm>
            <a:off x="9601200" y="4434840"/>
            <a:ext cx="1783080" cy="960120"/>
          </a:xfrm>
          <a:prstGeom prst="roundRect">
            <a:avLst/>
          </a:prstGeom>
          <a:solidFill>
            <a:srgbClr val="F5F8FA"/>
          </a:solidFill>
          <a:ln>
            <a:solidFill>
              <a:srgbClr val="D2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10928" y="4526279"/>
            <a:ext cx="1563624" cy="256032"/>
          </a:xfrm>
          <a:prstGeom prst="rect">
            <a:avLst/>
          </a:prstGeom>
          <a:noFill/>
        </p:spPr>
        <p:txBody>
          <a:bodyPr wrap="none" lIns="54864" tIns="54864" rIns="54864" bIns="54864" anchor="t">
            <a:spAutoFit/>
          </a:bodyPr>
          <a:lstStyle/>
          <a:p>
            <a:pPr algn="l"/>
            <a:r>
              <a:rPr sz="1000" b="1" i="0">
                <a:solidFill>
                  <a:srgbClr val="465A64"/>
                </a:solidFill>
                <a:latin typeface="Aptos"/>
              </a:rPr>
              <a:t>Train/Test</a:t>
            </a:r>
          </a:p>
        </p:txBody>
      </p:sp>
      <p:sp>
        <p:nvSpPr>
          <p:cNvPr id="54" name="TextBox 53"/>
          <p:cNvSpPr txBox="1"/>
          <p:nvPr/>
        </p:nvSpPr>
        <p:spPr>
          <a:xfrm>
            <a:off x="9710928" y="4791455"/>
            <a:ext cx="1563624" cy="438912"/>
          </a:xfrm>
          <a:prstGeom prst="rect">
            <a:avLst/>
          </a:prstGeom>
          <a:noFill/>
        </p:spPr>
        <p:txBody>
          <a:bodyPr wrap="none" lIns="54864" tIns="54864" rIns="54864" bIns="54864" anchor="t">
            <a:spAutoFit/>
          </a:bodyPr>
          <a:lstStyle/>
          <a:p>
            <a:pPr algn="l"/>
            <a:r>
              <a:rPr sz="2100" b="1" i="0">
                <a:solidFill>
                  <a:srgbClr val="146478"/>
                </a:solidFill>
                <a:latin typeface="Aptos"/>
              </a:rPr>
              <a:t>3200 / 800</a:t>
            </a:r>
          </a:p>
        </p:txBody>
      </p:sp>
      <p:sp>
        <p:nvSpPr>
          <p:cNvPr id="55" name="TextBox 54"/>
          <p:cNvSpPr txBox="1"/>
          <p:nvPr/>
        </p:nvSpPr>
        <p:spPr>
          <a:xfrm>
            <a:off x="9710928" y="5065775"/>
            <a:ext cx="1563624" cy="228600"/>
          </a:xfrm>
          <a:prstGeom prst="rect">
            <a:avLst/>
          </a:prstGeom>
          <a:noFill/>
        </p:spPr>
        <p:txBody>
          <a:bodyPr wrap="none" lIns="54864" tIns="54864" rIns="54864" bIns="54864" anchor="t">
            <a:spAutoFit/>
          </a:bodyPr>
          <a:lstStyle/>
          <a:p>
            <a:pPr algn="l"/>
            <a:r>
              <a:rPr sz="850" b="0" i="0">
                <a:solidFill>
                  <a:srgbClr val="5F696E"/>
                </a:solidFill>
                <a:latin typeface="Aptos"/>
              </a:rPr>
              <a:t>80:20 split</a:t>
            </a:r>
          </a:p>
        </p:txBody>
      </p:sp>
      <p:sp>
        <p:nvSpPr>
          <p:cNvPr id="56" name="TextBox 55"/>
          <p:cNvSpPr txBox="1"/>
          <p:nvPr/>
        </p:nvSpPr>
        <p:spPr>
          <a:xfrm>
            <a:off x="685800" y="5650992"/>
            <a:ext cx="10241280" cy="411480"/>
          </a:xfrm>
          <a:prstGeom prst="rect">
            <a:avLst/>
          </a:prstGeom>
          <a:noFill/>
        </p:spPr>
        <p:txBody>
          <a:bodyPr wrap="none" lIns="54864" tIns="54864" rIns="54864" bIns="54864" anchor="t">
            <a:spAutoFit/>
          </a:bodyPr>
          <a:lstStyle/>
          <a:p>
            <a:pPr algn="l"/>
            <a:r>
              <a:rPr sz="1250" b="1" i="0">
                <a:solidFill>
                  <a:srgbClr val="23505A"/>
                </a:solidFill>
                <a:latin typeface="Aptos"/>
              </a:rPr>
              <a:t>Largest fitted coefficient magnitude: Water_Efficiency_t_per_1000m3 = 1.3198. Intercept = -3.8552.</a:t>
            </a:r>
          </a:p>
        </p:txBody>
      </p:sp>
      <p:sp>
        <p:nvSpPr>
          <p:cNvPr id="57" name="TextBox 56"/>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10</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FUTURE SCOPE</a:t>
            </a:r>
          </a:p>
        </p:txBody>
      </p:sp>
      <p:sp>
        <p:nvSpPr>
          <p:cNvPr id="25" name="TextBox 24"/>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dirty="0">
                <a:solidFill>
                  <a:srgbClr val="5A6973"/>
                </a:solidFill>
                <a:latin typeface="Aptos"/>
              </a:rPr>
              <a:t>Seasonal Agriculture Performance Analysis</a:t>
            </a:r>
          </a:p>
        </p:txBody>
      </p:sp>
      <p:sp>
        <p:nvSpPr>
          <p:cNvPr id="26" name="TextBox 25"/>
          <p:cNvSpPr txBox="1"/>
          <p:nvPr/>
        </p:nvSpPr>
        <p:spPr>
          <a:xfrm>
            <a:off x="914400" y="1417320"/>
            <a:ext cx="9784080" cy="3337560"/>
          </a:xfrm>
          <a:prstGeom prst="rect">
            <a:avLst/>
          </a:prstGeom>
          <a:noFill/>
        </p:spPr>
        <p:txBody>
          <a:bodyPr wrap="square" lIns="54864" tIns="27432" rIns="54864" bIns="27432">
            <a:spAutoFit/>
          </a:bodyPr>
          <a:lstStyle/>
          <a:p>
            <a:pPr>
              <a:spcAft>
                <a:spcPts val="400"/>
              </a:spcAft>
              <a:defRPr sz="1700">
                <a:solidFill>
                  <a:srgbClr val="232D32"/>
                </a:solidFill>
                <a:latin typeface="Aptos"/>
              </a:defRPr>
            </a:pPr>
            <a:r>
              <a:t>• Extend the dataset with fertilizer use, crop variety, pest management, farm practices and market variables.</a:t>
            </a:r>
          </a:p>
          <a:p>
            <a:pPr>
              <a:spcAft>
                <a:spcPts val="400"/>
              </a:spcAft>
              <a:defRPr sz="1700">
                <a:solidFill>
                  <a:srgbClr val="232D32"/>
                </a:solidFill>
                <a:latin typeface="Aptos"/>
              </a:defRPr>
            </a:pPr>
            <a:r>
              <a:t>• Build interactive dashboards for seasonal, crop-wise and resource-use monitoring.</a:t>
            </a:r>
          </a:p>
          <a:p>
            <a:pPr>
              <a:spcAft>
                <a:spcPts val="400"/>
              </a:spcAft>
              <a:defRPr sz="1700">
                <a:solidFill>
                  <a:srgbClr val="232D32"/>
                </a:solidFill>
                <a:latin typeface="Aptos"/>
              </a:defRPr>
            </a:pPr>
            <a:r>
              <a:t>• Compare additional machine-learning models for yield prediction.</a:t>
            </a:r>
          </a:p>
          <a:p>
            <a:pPr>
              <a:spcAft>
                <a:spcPts val="400"/>
              </a:spcAft>
              <a:defRPr sz="1700">
                <a:solidFill>
                  <a:srgbClr val="232D32"/>
                </a:solidFill>
                <a:latin typeface="Aptos"/>
              </a:defRPr>
            </a:pPr>
            <a:r>
              <a:t>• Add time-series analysis when multi-year observations are available.</a:t>
            </a:r>
          </a:p>
          <a:p>
            <a:pPr>
              <a:spcAft>
                <a:spcPts val="400"/>
              </a:spcAft>
              <a:defRPr sz="1700">
                <a:solidFill>
                  <a:srgbClr val="232D32"/>
                </a:solidFill>
                <a:latin typeface="Aptos"/>
              </a:defRPr>
            </a:pPr>
            <a:r>
              <a:t>• Use richer farm-level data to support more targeted agricultural decision-making.</a:t>
            </a:r>
          </a:p>
        </p:txBody>
      </p:sp>
      <p:sp>
        <p:nvSpPr>
          <p:cNvPr id="27" name="TextBox 26"/>
          <p:cNvSpPr txBox="1"/>
          <p:nvPr/>
        </p:nvSpPr>
        <p:spPr>
          <a:xfrm>
            <a:off x="914400" y="5074920"/>
            <a:ext cx="9601200" cy="594360"/>
          </a:xfrm>
          <a:prstGeom prst="rect">
            <a:avLst/>
          </a:prstGeom>
          <a:noFill/>
        </p:spPr>
        <p:txBody>
          <a:bodyPr wrap="none" lIns="54864" tIns="54864" rIns="54864" bIns="54864" anchor="t">
            <a:spAutoFit/>
          </a:bodyPr>
          <a:lstStyle/>
          <a:p>
            <a:pPr algn="l"/>
            <a:r>
              <a:rPr sz="1400" b="1" i="0">
                <a:solidFill>
                  <a:srgbClr val="23505A"/>
                </a:solidFill>
                <a:latin typeface="Aptos"/>
              </a:rPr>
              <a:t>These extensions address the limitations identified in the notebook and can improve practical decision support.</a:t>
            </a:r>
          </a:p>
        </p:txBody>
      </p:sp>
      <p:sp>
        <p:nvSpPr>
          <p:cNvPr id="28" name="TextBox 27"/>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11</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GITHUB LINK</a:t>
            </a:r>
          </a:p>
        </p:txBody>
      </p:sp>
      <p:sp>
        <p:nvSpPr>
          <p:cNvPr id="25" name="TextBox 24"/>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sp>
        <p:nvSpPr>
          <p:cNvPr id="26" name="TextBox 25"/>
          <p:cNvSpPr txBox="1"/>
          <p:nvPr/>
        </p:nvSpPr>
        <p:spPr>
          <a:xfrm>
            <a:off x="914400" y="1600200"/>
            <a:ext cx="2743200" cy="365760"/>
          </a:xfrm>
          <a:prstGeom prst="rect">
            <a:avLst/>
          </a:prstGeom>
          <a:noFill/>
        </p:spPr>
        <p:txBody>
          <a:bodyPr wrap="none" lIns="54864" tIns="54864" rIns="54864" bIns="54864" anchor="t">
            <a:spAutoFit/>
          </a:bodyPr>
          <a:lstStyle/>
          <a:p>
            <a:pPr algn="l"/>
            <a:r>
              <a:rPr sz="1600" b="1" i="0">
                <a:solidFill>
                  <a:srgbClr val="2D414B"/>
                </a:solidFill>
                <a:latin typeface="Aptos"/>
              </a:rPr>
              <a:t>Project repository</a:t>
            </a:r>
          </a:p>
        </p:txBody>
      </p:sp>
      <p:sp>
        <p:nvSpPr>
          <p:cNvPr id="27" name="TextBox 26"/>
          <p:cNvSpPr txBox="1"/>
          <p:nvPr/>
        </p:nvSpPr>
        <p:spPr>
          <a:xfrm>
            <a:off x="922020" y="2148840"/>
            <a:ext cx="10277750" cy="418576"/>
          </a:xfrm>
          <a:prstGeom prst="rect">
            <a:avLst/>
          </a:prstGeom>
          <a:noFill/>
        </p:spPr>
        <p:txBody>
          <a:bodyPr wrap="none" lIns="54864" tIns="54864" rIns="54864" bIns="54864" anchor="t">
            <a:spAutoFit/>
          </a:bodyPr>
          <a:lstStyle/>
          <a:p>
            <a:r>
              <a:rPr sz="2000" b="1" i="0" dirty="0">
                <a:solidFill>
                  <a:srgbClr val="195F73"/>
                </a:solidFill>
                <a:latin typeface="Aptos"/>
              </a:rPr>
              <a:t>GitHub repository </a:t>
            </a:r>
            <a:r>
              <a:rPr lang="en-US" sz="2000" b="1" i="0" dirty="0">
                <a:solidFill>
                  <a:srgbClr val="195F73"/>
                </a:solidFill>
                <a:latin typeface="Aptos"/>
              </a:rPr>
              <a:t>:</a:t>
            </a:r>
            <a:r>
              <a:rPr lang="en-US" sz="2000" b="1" dirty="0">
                <a:solidFill>
                  <a:srgbClr val="195F73"/>
                </a:solidFill>
                <a:latin typeface="Aptos"/>
              </a:rPr>
              <a:t> https://github.com/Radhe-jangir/seasonal-agriculture-performance</a:t>
            </a:r>
            <a:endParaRPr sz="2000" b="1" i="0" dirty="0">
              <a:solidFill>
                <a:srgbClr val="195F73"/>
              </a:solidFill>
              <a:latin typeface="Aptos"/>
            </a:endParaRPr>
          </a:p>
        </p:txBody>
      </p:sp>
      <p:sp>
        <p:nvSpPr>
          <p:cNvPr id="29" name="TextBox 28"/>
          <p:cNvSpPr txBox="1"/>
          <p:nvPr/>
        </p:nvSpPr>
        <p:spPr>
          <a:xfrm>
            <a:off x="914400" y="3794760"/>
            <a:ext cx="4445641" cy="1034129"/>
          </a:xfrm>
          <a:prstGeom prst="rect">
            <a:avLst/>
          </a:prstGeom>
          <a:noFill/>
        </p:spPr>
        <p:txBody>
          <a:bodyPr wrap="none" lIns="54864" tIns="54864" rIns="54864" bIns="54864" anchor="t">
            <a:spAutoFit/>
          </a:bodyPr>
          <a:lstStyle/>
          <a:p>
            <a:pPr algn="l"/>
            <a:r>
              <a:rPr sz="1500" b="0" i="0" dirty="0">
                <a:solidFill>
                  <a:srgbClr val="2D373C"/>
                </a:solidFill>
                <a:latin typeface="Aptos"/>
              </a:rPr>
              <a:t>Project files:
• </a:t>
            </a:r>
            <a:r>
              <a:rPr sz="1500" b="0" i="0" dirty="0" err="1">
                <a:solidFill>
                  <a:srgbClr val="2D373C"/>
                </a:solidFill>
                <a:latin typeface="Aptos"/>
              </a:rPr>
              <a:t>Seasonal_Agriculture_Performance_Analysis.ipynb</a:t>
            </a:r>
            <a:r>
              <a:rPr sz="1500" b="0" i="0" dirty="0">
                <a:solidFill>
                  <a:srgbClr val="2D373C"/>
                </a:solidFill>
                <a:latin typeface="Aptos"/>
              </a:rPr>
              <a:t>
• Dataset CSV
• PPT </a:t>
            </a:r>
          </a:p>
        </p:txBody>
      </p:sp>
      <p:sp>
        <p:nvSpPr>
          <p:cNvPr id="30" name="TextBox 29"/>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dirty="0">
                <a:solidFill>
                  <a:srgbClr val="6E787D"/>
                </a:solidFill>
                <a:latin typeface="Aptos"/>
              </a:rPr>
              <a:t>12</a:t>
            </a: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658368" y="411480"/>
            <a:ext cx="8046720" cy="566928"/>
          </a:xfrm>
          <a:prstGeom prst="rect">
            <a:avLst/>
          </a:prstGeom>
          <a:noFill/>
        </p:spPr>
        <p:txBody>
          <a:bodyPr wrap="none" lIns="54864" tIns="54864" rIns="54864" bIns="54864" anchor="t">
            <a:spAutoFit/>
          </a:bodyPr>
          <a:lstStyle/>
          <a:p>
            <a:pPr algn="l"/>
            <a:r>
              <a:rPr sz="2500" b="1" i="0">
                <a:solidFill>
                  <a:srgbClr val="193746"/>
                </a:solidFill>
                <a:latin typeface="Aptos"/>
              </a:rPr>
              <a:t>VOIS COURSE COMPLETION CERTIFICATE</a:t>
            </a:r>
          </a:p>
        </p:txBody>
      </p:sp>
      <p:sp>
        <p:nvSpPr>
          <p:cNvPr id="25" name="TextBox 24"/>
          <p:cNvSpPr txBox="1"/>
          <p:nvPr/>
        </p:nvSpPr>
        <p:spPr>
          <a:xfrm>
            <a:off x="7315200" y="448056"/>
            <a:ext cx="3108960" cy="320040"/>
          </a:xfrm>
          <a:prstGeom prst="rect">
            <a:avLst/>
          </a:prstGeom>
          <a:noFill/>
        </p:spPr>
        <p:txBody>
          <a:bodyPr wrap="none" lIns="54864" tIns="54864" rIns="54864" bIns="54864" anchor="t">
            <a:spAutoFit/>
          </a:bodyPr>
          <a:lstStyle/>
          <a:p>
            <a:pPr algn="r"/>
            <a:r>
              <a:rPr sz="950" b="0" i="0">
                <a:solidFill>
                  <a:srgbClr val="5A6973"/>
                </a:solidFill>
                <a:latin typeface="Aptos"/>
              </a:rPr>
              <a:t>Seasonal Agriculture Performance Analysis</a:t>
            </a:r>
          </a:p>
        </p:txBody>
      </p:sp>
      <p:sp>
        <p:nvSpPr>
          <p:cNvPr id="26" name="TextBox 25"/>
          <p:cNvSpPr txBox="1"/>
          <p:nvPr/>
        </p:nvSpPr>
        <p:spPr>
          <a:xfrm>
            <a:off x="3581400" y="6278455"/>
            <a:ext cx="5029200" cy="411480"/>
          </a:xfrm>
          <a:prstGeom prst="rect">
            <a:avLst/>
          </a:prstGeom>
          <a:noFill/>
        </p:spPr>
        <p:txBody>
          <a:bodyPr wrap="none" lIns="54864" tIns="54864" rIns="54864" bIns="54864" anchor="t">
            <a:spAutoFit/>
          </a:bodyPr>
          <a:lstStyle/>
          <a:p>
            <a:pPr algn="l"/>
            <a:r>
              <a:rPr sz="1800" b="1" i="0" dirty="0">
                <a:solidFill>
                  <a:srgbClr val="23414B"/>
                </a:solidFill>
                <a:latin typeface="Aptos"/>
              </a:rPr>
              <a:t>Course name: Data Visualization</a:t>
            </a:r>
          </a:p>
        </p:txBody>
      </p:sp>
      <p:sp>
        <p:nvSpPr>
          <p:cNvPr id="30" name="TextBox 29"/>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13</a:t>
            </a:r>
          </a:p>
        </p:txBody>
      </p:sp>
      <p:pic>
        <p:nvPicPr>
          <p:cNvPr id="2" name="Picture 1">
            <a:extLst>
              <a:ext uri="{FF2B5EF4-FFF2-40B4-BE49-F238E27FC236}">
                <a16:creationId xmlns:a16="http://schemas.microsoft.com/office/drawing/2014/main" id="{94F2094C-9D64-D721-11DC-BC57885BE441}"/>
              </a:ext>
            </a:extLst>
          </p:cNvPr>
          <p:cNvPicPr>
            <a:picLocks noChangeAspect="1"/>
          </p:cNvPicPr>
          <p:nvPr/>
        </p:nvPicPr>
        <p:blipFill>
          <a:blip r:embed="rId3"/>
          <a:stretch>
            <a:fillRect/>
          </a:stretch>
        </p:blipFill>
        <p:spPr>
          <a:xfrm>
            <a:off x="2226183" y="804672"/>
            <a:ext cx="7739634" cy="5473783"/>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4200724" y="1051560"/>
            <a:ext cx="3668633" cy="1034129"/>
          </a:xfrm>
          <a:prstGeom prst="rect">
            <a:avLst/>
          </a:prstGeom>
          <a:noFill/>
        </p:spPr>
        <p:txBody>
          <a:bodyPr wrap="none" lIns="54864" tIns="54864" rIns="54864" bIns="54864" anchor="t">
            <a:spAutoFit/>
          </a:bodyPr>
          <a:lstStyle/>
          <a:p>
            <a:pPr algn="ctr"/>
            <a:r>
              <a:rPr sz="6000" b="1" i="0" dirty="0">
                <a:solidFill>
                  <a:srgbClr val="194655"/>
                </a:solidFill>
                <a:latin typeface="Aptos"/>
              </a:rPr>
              <a:t>Thank You</a:t>
            </a:r>
          </a:p>
        </p:txBody>
      </p:sp>
      <p:sp>
        <p:nvSpPr>
          <p:cNvPr id="47" name="TextBox 46"/>
          <p:cNvSpPr txBox="1"/>
          <p:nvPr/>
        </p:nvSpPr>
        <p:spPr>
          <a:xfrm>
            <a:off x="2181966" y="2011680"/>
            <a:ext cx="7706149" cy="603242"/>
          </a:xfrm>
          <a:prstGeom prst="rect">
            <a:avLst/>
          </a:prstGeom>
          <a:noFill/>
        </p:spPr>
        <p:txBody>
          <a:bodyPr wrap="none" lIns="54864" tIns="54864" rIns="54864" bIns="54864" anchor="t">
            <a:spAutoFit/>
          </a:bodyPr>
          <a:lstStyle/>
          <a:p>
            <a:pPr algn="ctr"/>
            <a:r>
              <a:rPr sz="3200" b="0" i="0" dirty="0">
                <a:solidFill>
                  <a:srgbClr val="3C5055"/>
                </a:solidFill>
                <a:latin typeface="Aptos"/>
              </a:rPr>
              <a:t>Seasonal Agriculture Performance Analysis</a:t>
            </a:r>
          </a:p>
        </p:txBody>
      </p:sp>
      <p:sp>
        <p:nvSpPr>
          <p:cNvPr id="48" name="TextBox 47"/>
          <p:cNvSpPr txBox="1"/>
          <p:nvPr/>
        </p:nvSpPr>
        <p:spPr>
          <a:xfrm>
            <a:off x="1342213" y="2971800"/>
            <a:ext cx="9202777" cy="1341906"/>
          </a:xfrm>
          <a:prstGeom prst="rect">
            <a:avLst/>
          </a:prstGeom>
          <a:noFill/>
        </p:spPr>
        <p:txBody>
          <a:bodyPr wrap="none" lIns="54864" tIns="54864" rIns="54864" bIns="54864" anchor="t">
            <a:spAutoFit/>
          </a:bodyPr>
          <a:lstStyle/>
          <a:p>
            <a:pPr algn="ctr"/>
            <a:r>
              <a:rPr sz="4000" b="1" i="0" dirty="0">
                <a:solidFill>
                  <a:srgbClr val="374146"/>
                </a:solidFill>
                <a:latin typeface="Aptos"/>
              </a:rPr>
              <a:t>Radheshyam Suthar
Indira Gandhi National Tribal University</a:t>
            </a:r>
          </a:p>
        </p:txBody>
      </p:sp>
      <p:sp>
        <p:nvSpPr>
          <p:cNvPr id="49" name="TextBox 48"/>
          <p:cNvSpPr txBox="1"/>
          <p:nvPr/>
        </p:nvSpPr>
        <p:spPr>
          <a:xfrm>
            <a:off x="1596578" y="4983480"/>
            <a:ext cx="8694047" cy="603242"/>
          </a:xfrm>
          <a:prstGeom prst="rect">
            <a:avLst/>
          </a:prstGeom>
          <a:noFill/>
        </p:spPr>
        <p:txBody>
          <a:bodyPr wrap="none" lIns="54864" tIns="54864" rIns="54864" bIns="54864" anchor="t">
            <a:spAutoFit/>
          </a:bodyPr>
          <a:lstStyle/>
          <a:p>
            <a:pPr algn="ctr"/>
            <a:r>
              <a:rPr sz="3200" b="0" i="0" dirty="0">
                <a:solidFill>
                  <a:srgbClr val="4B5F64"/>
                </a:solidFill>
                <a:latin typeface="Aptos"/>
              </a:rPr>
              <a:t>Major Project — VOIS AICTE Batch 1 (2026–2027)</a:t>
            </a:r>
          </a:p>
        </p:txBody>
      </p:sp>
      <p:sp>
        <p:nvSpPr>
          <p:cNvPr id="50" name="TextBox 49"/>
          <p:cNvSpPr txBox="1"/>
          <p:nvPr/>
        </p:nvSpPr>
        <p:spPr>
          <a:xfrm>
            <a:off x="10808208" y="6473952"/>
            <a:ext cx="320040" cy="164592"/>
          </a:xfrm>
          <a:prstGeom prst="rect">
            <a:avLst/>
          </a:prstGeom>
          <a:noFill/>
        </p:spPr>
        <p:txBody>
          <a:bodyPr wrap="none" lIns="54864" tIns="54864" rIns="54864" bIns="54864" anchor="t">
            <a:spAutoFit/>
          </a:bodyPr>
          <a:lstStyle/>
          <a:p>
            <a:pPr algn="r"/>
            <a:r>
              <a:rPr sz="800" b="0" i="0">
                <a:solidFill>
                  <a:srgbClr val="6E787D"/>
                </a:solidFill>
                <a:latin typeface="Aptos"/>
              </a:rPr>
              <a:t>14</a:t>
            </a:r>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1447</TotalTime>
  <Words>787</Words>
  <Application>Microsoft Office PowerPoint</Application>
  <PresentationFormat>Widescreen</PresentationFormat>
  <Paragraphs>160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RADHESHYAM SUTHAR</cp:lastModifiedBy>
  <cp:revision>101</cp:revision>
  <dcterms:created xsi:type="dcterms:W3CDTF">2021-07-11T13:13:15Z</dcterms:created>
  <dcterms:modified xsi:type="dcterms:W3CDTF">2026-09-14T11:00:59Z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